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[00:00 — 00:20]  OUVERTURE</a:t>
            </a:r>
          </a:p>
          <a:p/>
          <a:p>
            <a:r>
              <a:t>« Bonjour, je présente ma plateforme data lakehouse conteneurisée, construite</a:t>
            </a:r>
          </a:p>
          <a:p>
            <a:r>
              <a:t>de zéro à partir du cahier des charges : ingestion NiFi depuis FakeStoreAPI</a:t>
            </a:r>
          </a:p>
          <a:p>
            <a:r>
              <a:t>vers MinIO, médaillon Bronze/Silver/Gold en Iceberg catalogué par Nessie,</a:t>
            </a:r>
          </a:p>
          <a:p>
            <a:r>
              <a:t>orchestration Airflow, requêtage Dremio. »</a:t>
            </a:r>
          </a:p>
          <a:p/>
          <a:p>
            <a:r>
              <a:t>À PRÉPARER AVANT D'ENREGISTRER :</a:t>
            </a:r>
          </a:p>
          <a:p>
            <a:r>
              <a:t>  * la pile démarrée depuis au moins 5 minutes, tous les services en healthy ;</a:t>
            </a:r>
          </a:p>
          <a:p>
            <a:r>
              <a:t>  * le backfill des 6 mois déjà exécuté (sinon la démo dure trop longtemps) ;</a:t>
            </a:r>
          </a:p>
          <a:p>
            <a:r>
              <a:t>  * onglets navigateur ouverts DANS CET ORDRE : NiFi, Airflow, MinIO, Dremio,</a:t>
            </a:r>
          </a:p>
          <a:p>
            <a:r>
              <a:t>    Spark master, Grafana ;</a:t>
            </a:r>
          </a:p>
          <a:p>
            <a:r>
              <a:t>  * VS Code ouvert sur le dépôt, docker-compose.yml déjà affiché ;</a:t>
            </a:r>
          </a:p>
          <a:p>
            <a:r>
              <a:t>  * un terminal en plein écran, police agrandie (14 pt minimum) ;</a:t>
            </a:r>
          </a:p>
          <a:p>
            <a:r>
              <a:t>  * REMPLACER « Nom Prénom » sur cette diapositive.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[00:20 — 00:45]  PLAN</a:t>
            </a:r>
          </a:p>
          <a:p/>
          <a:p>
            <a:r>
              <a:t>« Voici le déroulé : je commence par l'architecture et les choix structurants,</a:t>
            </a:r>
          </a:p>
          <a:p>
            <a:r>
              <a:t>puis l'essentiel se passe sur l'écran réel — le docker-compose, le flow NiFi,</a:t>
            </a:r>
          </a:p>
          <a:p>
            <a:r>
              <a:t>les jobs Spark, Dremio, et enfin une démonstration complète de bout en bout.</a:t>
            </a:r>
          </a:p>
          <a:p>
            <a:r>
              <a:t>Je termine par le bilan. »</a:t>
            </a:r>
          </a:p>
          <a:p/>
          <a:p>
            <a:r>
              <a:t>Annoncer le plan vite : c'est du temps pris sur la démonstration.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[00:45 — 01:10]  CADRAGE</a:t>
            </a:r>
          </a:p>
          <a:p/>
          <a:p>
            <a:r>
              <a:t>« Le sujet impose une pile technique, mais pas d'architecture. Tout ce qui est</a:t>
            </a:r>
          </a:p>
          <a:p>
            <a:r>
              <a:t>à droite relève de mes choix : la topologie Docker, la conception du flow NiFi,</a:t>
            </a:r>
          </a:p>
          <a:p>
            <a:r>
              <a:t>la convention de nommage de la zone brute, le contenu de chaque couche du</a:t>
            </a:r>
          </a:p>
          <a:p>
            <a:r>
              <a:t>médaillon, la stratégie d'historisation, l'orchestration. C'est là-dessus que</a:t>
            </a:r>
          </a:p>
          <a:p>
            <a:r>
              <a:t>je vais m'attarder. »</a:t>
            </a:r>
          </a:p>
          <a:p/>
          <a:p>
            <a:r>
              <a:t>Diapositive à passer rapidement — elle pose le cadre, elle n'est pas le fond.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[01:10 — 02:20]  ARCHITECTURE — LE CŒUR DE L'EXPOSÉ</a:t>
            </a:r>
          </a:p>
          <a:p/>
          <a:p>
            <a:r>
              <a:t>Suivre le chemin de la donnée, de gauche à droite :</a:t>
            </a:r>
          </a:p>
          <a:p/>
          <a:p>
            <a:r>
              <a:t>« Une donnée entre par NiFi — c'est le seul composant qui parle à l'extérieur.</a:t>
            </a:r>
          </a:p>
          <a:p>
            <a:r>
              <a:t>Elle atterrit en JSON brut dans le bucket lakehouse-raw de MinIO, partitionnée</a:t>
            </a:r>
          </a:p>
          <a:p>
            <a:r>
              <a:t>par date d'ingestion. Spark la reprend et construit les trois couches du</a:t>
            </a:r>
          </a:p>
          <a:p>
            <a:r>
              <a:t>médaillon en tables Iceberg ; ces tables sont décrites par Nessie, qui joue le</a:t>
            </a:r>
          </a:p>
          <a:p>
            <a:r>
              <a:t>rôle de catalogue versionné, et leurs fichiers Parquet vivent dans le second</a:t>
            </a:r>
          </a:p>
          <a:p>
            <a:r>
              <a:t>bucket. Dremio lit ce même catalogue et expose le tout en SQL. Airflow</a:t>
            </a:r>
          </a:p>
          <a:p>
            <a:r>
              <a:t>ordonnance l'ensemble, Prometheus et Grafana l'observent. »</a:t>
            </a:r>
          </a:p>
          <a:p/>
          <a:p>
            <a:r>
              <a:t>DEUX POINTS À SOULIGNER :</a:t>
            </a:r>
          </a:p>
          <a:p>
            <a:r>
              <a:t> 1. les deux buckets sont volontairement séparés — contrainte du sujet, mais</a:t>
            </a:r>
          </a:p>
          <a:p>
            <a:r>
              <a:t>    aussi deux politiques différentes : rétention 90 jours sur la zone brute,</a:t>
            </a:r>
          </a:p>
          <a:p>
            <a:r>
              <a:t>    versionnement sur le warehouse ;</a:t>
            </a:r>
          </a:p>
          <a:p>
            <a:r>
              <a:t> 2. tout se désigne par nom de service Docker. Depuis le conteneur NiFi,</a:t>
            </a:r>
          </a:p>
          <a:p>
            <a:r>
              <a:t>    localhost désignerait NiFi lui-même : l'endpoint S3 est http://minio:9000.</a:t>
            </a:r>
          </a:p>
          <a:p>
            <a:r>
              <a:t>    C'est LE piège de ce type de plateforme.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[02:20 — 03:00]  CHOIX STRUCTURANTS</a:t>
            </a:r>
          </a:p>
          <a:p/>
          <a:p>
            <a:r>
              <a:t>Ne pas lire les quatre cartes. En développer DEUX, celles qui portent le plus :</a:t>
            </a:r>
          </a:p>
          <a:p/>
          <a:p>
            <a:r>
              <a:t> 1. « NiFi est déclenché par un ListenHTTP, et pas par un GenerateFlowFile</a:t>
            </a:r>
          </a:p>
          <a:p>
            <a:r>
              <a:t>    planifié. La raison est directement liée à la contrainte des 6 mois :</a:t>
            </a:r>
          </a:p>
          <a:p>
            <a:r>
              <a:t>    c'est l'appelant qui porte la date logique du snapshot. Airflow envoie</a:t>
            </a:r>
          </a:p>
          <a:p>
            <a:r>
              <a:t>    180 demandes, chacune avec sa date, et NiFi range chaque réponse dans la</a:t>
            </a:r>
          </a:p>
          <a:p>
            <a:r>
              <a:t>    bonne partition. Un processeur planifié ne saurait ingérer que maintenant. »</a:t>
            </a:r>
          </a:p>
          <a:p/>
          <a:p>
            <a:r>
              <a:t> 2. « Sur le déclenchement du médaillon, j'ai retenu l'option A. Un DAG qui</a:t>
            </a:r>
          </a:p>
          <a:p>
            <a:r>
              <a:t>    observe l'état réel du stockage survit à une panne de NiFi ou à un</a:t>
            </a:r>
          </a:p>
          <a:p>
            <a:r>
              <a:t>    redémarrage ; un DAG déclenché par événement perd les données si</a:t>
            </a:r>
          </a:p>
          <a:p>
            <a:r>
              <a:t>    l'événement se perd. J'ai quand même câblé l'option B — je la montrerai. »</a:t>
            </a:r>
          </a:p>
          <a:p/>
          <a:p>
            <a:r>
              <a:t>Puis enchaîner : « Passons à l'écran.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[03:00 — 04:30]  DOCKER-COMPOSE — À L'ÉCRAN</a:t>
            </a:r>
          </a:p>
          <a:p/>
          <a:p>
            <a:r>
              <a:t>Basculer sur VS Code, docker-compose.yml déjà ouvert. Faire défiler CALMEMENT.</a:t>
            </a:r>
          </a:p>
          <a:p/>
          <a:p>
            <a:r>
              <a:t>« Onze services sur un seul réseau bridge. Trois choses sur lesquelles je veux</a:t>
            </a:r>
          </a:p>
          <a:p>
            <a:r>
              <a:t>insister. D'abord les endpoints : tout est désigné par nom de service Docker,</a:t>
            </a:r>
          </a:p>
          <a:p>
            <a:r>
              <a:t>jamais par localhost — c'est ce qui permet à NiFi d'écrire dans MinIO. Ensuite</a:t>
            </a:r>
          </a:p>
          <a:p>
            <a:r>
              <a:t>les volumes : NiFi en a sept à lui seul, parce que son état interne — le</a:t>
            </a:r>
          </a:p>
          <a:p>
            <a:r>
              <a:t>repository de flowfiles, la provenance — doit survivre à un redémarrage,</a:t>
            </a:r>
          </a:p>
          <a:p>
            <a:r>
              <a:t>c'est une exigence de la Partie 2. Enfin l'ordre de démarrage : je n'utilise</a:t>
            </a:r>
          </a:p>
          <a:p>
            <a:r>
              <a:t>pas depends_on seul, mais condition: service_healthy. Nessie migre son schéma</a:t>
            </a:r>
          </a:p>
          <a:p>
            <a:r>
              <a:t>au boot, donc PostgreSQL doit être réellement prêt, pas seulement démarré. »</a:t>
            </a:r>
          </a:p>
          <a:p/>
          <a:p>
            <a:r>
              <a:t>Puis terminal : docker compose ps — montrer les healthy.</a:t>
            </a:r>
          </a:p>
          <a:p/>
          <a:p>
            <a:r>
              <a:t>NE PAS lire le fichier ligne à ligne. Deux minutes maximum.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[04:30 — 07:30]  FLOW NIFI — SÉQUENCE LA PLUS NOTÉE (4 points)</a:t>
            </a:r>
          </a:p>
          <a:p/>
          <a:p>
            <a:r>
              <a:t>Basculer sur l'interface NiFi, entrer dans le Process Group.</a:t>
            </a:r>
          </a:p>
          <a:p/>
          <a:p>
            <a:r>
              <a:t>Parcourir la chaîne de gauche à droite en expliquant POURQUOI chaque</a:t>
            </a:r>
          </a:p>
          <a:p>
            <a:r>
              <a:t>processeur est là :</a:t>
            </a:r>
          </a:p>
          <a:p/>
          <a:p>
            <a:r>
              <a:t>« ListenHTTP reçoit la demande d'Airflow. EvaluateJsonPath extrait la date</a:t>
            </a:r>
          </a:p>
          <a:p>
            <a:r>
              <a:t>logique — et c'est important qu'il soit AVANT le SplitJson : les attributs</a:t>
            </a:r>
          </a:p>
          <a:p>
            <a:r>
              <a:t>d'un FlowFile sont hérités par tous ses fragments, la date suit donc les trois</a:t>
            </a:r>
          </a:p>
          <a:p>
            <a:r>
              <a:t>branches sans être relue. SplitJson éclate le tableau des domaines, ce qui fait</a:t>
            </a:r>
          </a:p>
          <a:p>
            <a:r>
              <a:t>partir les trois appels API en parallèle : un échec sur /carts n'empêche pas</a:t>
            </a:r>
          </a:p>
          <a:p>
            <a:r>
              <a:t>/products d'aboutir. InvokeHTTP est le seul point de sortie vers Internet, et</a:t>
            </a:r>
          </a:p>
          <a:p>
            <a:r>
              <a:t>son URL est paramétrée. »</a:t>
            </a:r>
          </a:p>
          <a:p/>
          <a:p>
            <a:r>
              <a:t>Sur le contrôle : « RouteOnAttribute fait le contrôle minimal exigé par le</a:t>
            </a:r>
          </a:p>
          <a:p>
            <a:r>
              <a:t>sujet, et rien de plus : code 200, charge utile non vide, type MIME JSON. Pas</a:t>
            </a:r>
          </a:p>
          <a:p>
            <a:r>
              <a:t>de parsing, pas de calcul, pas de jointure — la transformation métier appartient</a:t>
            </a:r>
          </a:p>
          <a:p>
            <a:r>
              <a:t>à Spark, c'est une contrainte explicite du sujet. »</a:t>
            </a:r>
          </a:p>
          <a:p/>
          <a:p>
            <a:r>
              <a:t>Sur l'idempotence : « DetectDuplicate, avec la clé domaine + date. Rejouer une</a:t>
            </a:r>
          </a:p>
          <a:p>
            <a:r>
              <a:t>ingestion déjà faite n'écrit pas un second objet dans MinIO. »</a:t>
            </a:r>
          </a:p>
          <a:p/>
          <a:p>
            <a:r>
              <a:t>OUVRIR PutS3Object et montrer les deux propriétés critiques :</a:t>
            </a:r>
          </a:p>
          <a:p>
            <a:r>
              <a:t>   Endpoint Override URL = http://minio:9000  ← « et surtout pas localhost »</a:t>
            </a:r>
          </a:p>
          <a:p>
            <a:r>
              <a:t>   Use Path Style Access = true               ← « MinIO ne fait pas de</a:t>
            </a:r>
          </a:p>
          <a:p>
            <a:r>
              <a:t>                                                  virtual-hosted style »</a:t>
            </a:r>
          </a:p>
          <a:p/>
          <a:p>
            <a:r>
              <a:t>OUVRIR le Parameter Context : « tout ce qui est spécifique à FakeStoreAPI est</a:t>
            </a:r>
          </a:p>
          <a:p>
            <a:r>
              <a:t>là. Changer api.base.url suffit à brancher ce flow sur une autre API — c'est</a:t>
            </a:r>
          </a:p>
          <a:p>
            <a:r>
              <a:t>le bonus 7.4. Et les secrets sont marqués sensibles, donc chiffrés par NiFi. »</a:t>
            </a:r>
          </a:p>
          <a:p/>
          <a:p>
            <a:r>
              <a:t>Terminer sur MinIO : montrer l'arborescence réelle avec ingest_date=.</a:t>
            </a:r>
          </a:p>
          <a:p/>
          <a:p>
            <a:r>
              <a:t>C'est la séquence à ne pas bâcler. Trois minutes pleines.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[07:30 — 08:00]  LE MÉDAILLON — CADRAGE AVANT L'ÉCRAN</a:t>
            </a:r>
          </a:p>
          <a:p/>
          <a:p>
            <a:r>
              <a:t>« Avant de montrer le code, le contrat de chaque couche.</a:t>
            </a:r>
          </a:p>
          <a:p/>
          <a:p>
            <a:r>
              <a:t>Bronze est la mémoire : copie fidèle, structures imbriquées conservées, et</a:t>
            </a:r>
          </a:p>
          <a:p>
            <a:r>
              <a:t>surtout les rejets ne sont pas supprimés — ils sont marqués avec un motif. Un</a:t>
            </a:r>
          </a:p>
          <a:p>
            <a:r>
              <a:t>rejet doit être analysable, pas invisible. Une seule entorse à la fidélité :</a:t>
            </a:r>
          </a:p>
          <a:p>
            <a:r>
              <a:t>le champ password de /users est haché dès l'écriture. Aucun argument de</a:t>
            </a:r>
          </a:p>
          <a:p>
            <a:r>
              <a:t>fidélité ne justifie de stocker un secret en clair.</a:t>
            </a:r>
          </a:p>
          <a:p/>
          <a:p>
            <a:r>
              <a:t>Silver est la vérité métier : typé, aplati, dédoublonné, enrichi. Les prix sont</a:t>
            </a:r>
          </a:p>
          <a:p>
            <a:r>
              <a:t>en DECIMAL, pas en DOUBLE — agrégés sur cinq mille lignes, les flottants</a:t>
            </a:r>
          </a:p>
          <a:p>
            <a:r>
              <a:t>produisent des écarts au centime qui font échouer les réconciliations.</a:t>
            </a:r>
          </a:p>
          <a:p/>
          <a:p>
            <a:r>
              <a:t>Gold répond aux questions : les agrégats sont matérialisés, l'outil de</a:t>
            </a:r>
          </a:p>
          <a:p>
            <a:r>
              <a:t>restitution n'a plus qu'à lire.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[08:00 — 08:40]  HISTORISATION — POSER LE PROBLÈME</a:t>
            </a:r>
          </a:p>
          <a:p/>
          <a:p>
            <a:r>
              <a:t>C'est le point où un jury attend une réponse honnête. Ne pas l'esquiver.</a:t>
            </a:r>
          </a:p>
          <a:p/>
          <a:p>
            <a:r>
              <a:t>« La contrainte 4.1 demande environ six mois d'historique, alors que l'API ne</a:t>
            </a:r>
          </a:p>
          <a:p>
            <a:r>
              <a:t>renvoie que l'état courant. Deux réponses faciles s'offraient à moi, et je les</a:t>
            </a:r>
          </a:p>
          <a:p>
            <a:r>
              <a:t>ai écartées toutes les deux : ingérer 180 fois la même chose donne un</a:t>
            </a:r>
          </a:p>
          <a:p>
            <a:r>
              <a:t>historique conforme mais mort ; générer des données de toutes pièces trahit la</a:t>
            </a:r>
          </a:p>
          <a:p>
            <a:r>
              <a:t>contrainte de source.</a:t>
            </a:r>
          </a:p>
          <a:p/>
          <a:p>
            <a:r>
              <a:t>Je me suis imposé deux propriétés. D'abord le déterminisme : aucune fonction</a:t>
            </a:r>
          </a:p>
          <a:p>
            <a:r>
              <a:t>aléatoire, tout dérive d'un hash de la clé, de la date et d'une graine. Relancer</a:t>
            </a:r>
          </a:p>
          <a:p>
            <a:r>
              <a:t>le backfill reproduit exactement le même historique. Ensuite l'ancrage sur le</a:t>
            </a:r>
          </a:p>
          <a:p>
            <a:r>
              <a:t>réel : la valeur que l'API renvoie aujourd'hui est traitée comme le point</a:t>
            </a:r>
          </a:p>
          <a:p>
            <a:r>
              <a:t>d'arrivée, et le modèle rétro-projette le passé. Sur la date la plus récente, le</a:t>
            </a:r>
          </a:p>
          <a:p>
            <a:r>
              <a:t>facteur vaut exactement un : la donnée observée n'est jamais altérée.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[08:40 — 09:20]  HISTORISATION — LA RÉPONSE</a:t>
            </a:r>
          </a:p>
          <a:p/>
          <a:p>
            <a:r>
              <a:t>« Ma réponse tient en trois niveaux, du plus réel au plus reconstruit.</a:t>
            </a:r>
          </a:p>
          <a:p/>
          <a:p>
            <a:r>
              <a:t>Le niveau un est toujours actif : NiFi est déclenché une fois par date logique</a:t>
            </a:r>
          </a:p>
          <a:p>
            <a:r>
              <a:t>sur cent quatre-vingts jours. Chaque itération est un vrai appel HTTP. La zone</a:t>
            </a:r>
          </a:p>
          <a:p>
            <a:r>
              <a:t>brute contient donc cent quatre-vingts snapshots authentiques — c'est ce niveau</a:t>
            </a:r>
          </a:p>
          <a:p>
            <a:r>
              <a:t>qui satisfait littéralement la contrainte du sujet.</a:t>
            </a:r>
          </a:p>
          <a:p/>
          <a:p>
            <a:r>
              <a:t>Le niveau deux concerne les paniers : ils portent une vraie date, mais de 2019.</a:t>
            </a:r>
          </a:p>
          <a:p>
            <a:r>
              <a:t>Je la projette de façon déterministe sur la fenêtre courante. Les</a:t>
            </a:r>
          </a:p>
          <a:p>
            <a:r>
              <a:t>enregistrements restent réels, seule leur position dans le temps change.</a:t>
            </a:r>
          </a:p>
          <a:p/>
          <a:p>
            <a:r>
              <a:t>Le niveau trois est le seul vraiment synthétique, et il est désactivable : un</a:t>
            </a:r>
          </a:p>
          <a:p>
            <a:r>
              <a:t>modèle déterministe applique une dérive de prix et une croissance du cumul</a:t>
            </a:r>
          </a:p>
          <a:p>
            <a:r>
              <a:t>d'avis, pour que les analyses temporelles aient du sens.</a:t>
            </a:r>
          </a:p>
          <a:p/>
          <a:p>
            <a:r>
              <a:t>Et le point qui compte : toute ligne concernée porte un booléen</a:t>
            </a:r>
          </a:p>
          <a:p>
            <a:r>
              <a:t>is_reconstructed, et la mesure brute reste disponible à côté de la mesure</a:t>
            </a:r>
          </a:p>
          <a:p>
            <a:r>
              <a:t>historisée. Le lakehouse ne ment jamais sur la nature d'une donnée.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[09:20 — 11:00]  JOBS SPARK — À L'ÉCRAN</a:t>
            </a:r>
          </a:p>
          <a:p/>
          <a:p>
            <a:r>
              <a:t>Ne PAS lire le code ligne à ligne. Ouvrir trois fichiers et expliquer une idée</a:t>
            </a:r>
          </a:p>
          <a:p>
            <a:r>
              <a:t>dans chacun.</a:t>
            </a:r>
          </a:p>
          <a:p/>
          <a:p>
            <a:r>
              <a:t>1) bronze/bronze_ingest.py</a:t>
            </a:r>
          </a:p>
          <a:p>
            <a:r>
              <a:t>   « Un seul job pour les trois domaines, paramétré par --domain. Deux choses :</a:t>
            </a:r>
          </a:p>
          <a:p>
            <a:r>
              <a:t>   le schéma est EXPLICITE, jamais inféré — une inférence changerait toute</a:t>
            </a:r>
          </a:p>
          <a:p>
            <a:r>
              <a:t>   seule le type d'une colonne le jour où l'API renvoie un entier au lieu d'un</a:t>
            </a:r>
          </a:p>
          <a:p>
            <a:r>
              <a:t>   décimal, et casserait Silver en silence. Et l'écriture se fait en</a:t>
            </a:r>
          </a:p>
          <a:p>
            <a:r>
              <a:t>   overwritePartitions : retraiter une date remplace exactement sa partition,</a:t>
            </a:r>
          </a:p>
          <a:p>
            <a:r>
              <a:t>   donc rejouer un DAG run ne duplique rien. »</a:t>
            </a:r>
          </a:p>
          <a:p/>
          <a:p>
            <a:r>
              <a:t>2) silver/silver_products.py</a:t>
            </a:r>
          </a:p>
          <a:p>
            <a:r>
              <a:t>   Montrer le row_number() de dédoublonnage, puis le facteur de prix.</a:t>
            </a:r>
          </a:p>
          <a:p>
            <a:r>
              <a:t>   « Ici on voit l'historisation à l'œuvre : unit_price_observed garde la</a:t>
            </a:r>
          </a:p>
          <a:p>
            <a:r>
              <a:t>   mesure brute, unit_price porte la mesure historisée. »</a:t>
            </a:r>
          </a:p>
          <a:p/>
          <a:p>
            <a:r>
              <a:t>3) gold/gold_sales_daily.py — LE POINT FORT</a:t>
            </a:r>
          </a:p>
          <a:p>
            <a:r>
              <a:t>   Montrer la clause de jointure.</a:t>
            </a:r>
          </a:p>
          <a:p>
            <a:r>
              <a:t>   « La jointure entre les commandes et les produits est TEMPORELLE :</a:t>
            </a:r>
          </a:p>
          <a:p>
            <a:r>
              <a:t>   p.snapshot_date = o.order_date. Valoriser une commande de mars avec le prix</a:t>
            </a:r>
          </a:p>
          <a:p>
            <a:r>
              <a:t>   du catalogue d'aujourd'hui serait une erreur classique. Et c'est un LEFT</a:t>
            </a:r>
          </a:p>
          <a:p>
            <a:r>
              <a:t>   JOIN volontairement : une ligne sans produit correspondant n'est pas perdue,</a:t>
            </a:r>
          </a:p>
          <a:p>
            <a:r>
              <a:t>   elle est comptée dans nb_unmatched_lines, un indicateur d'intégrité</a:t>
            </a:r>
          </a:p>
          <a:p>
            <a:r>
              <a:t>   référentielle que la porte qualité vérifie. »</a:t>
            </a:r>
          </a:p>
          <a:p/>
          <a:p>
            <a:r>
              <a:t>Si le temps le permet : montrer la réconciliation croisée dans</a:t>
            </a:r>
          </a:p>
          <a:p>
            <a:r>
              <a:t>data_quality_checks.py — deux tables Gold construites par deux jobs</a:t>
            </a:r>
          </a:p>
          <a:p>
            <a:r>
              <a:t>indépendants dont le total de CA doit coïncider.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[11:00 — 13:00]  DREMIO — À L'ÉCRAN</a:t>
            </a:r>
          </a:p>
          <a:p/>
          <a:p>
            <a:r>
              <a:t>Deux façons de procéder ; choisir selon le temps restant.</a:t>
            </a:r>
          </a:p>
          <a:p/>
          <a:p>
            <a:r>
              <a:t>OPTION RAPIDE (recommandée) : lancer `make dremio-test` dans le terminal. Les</a:t>
            </a:r>
          </a:p>
          <a:p>
            <a:r>
              <a:t>dix requêtes défilent avec leurs résultats. Commenter au fil de l'eau.</a:t>
            </a:r>
          </a:p>
          <a:p/>
          <a:p>
            <a:r>
              <a:t>OPTION DÉTAILLÉE : ouvrir l'éditeur SQL de Dremio et jouer Q1, Q2, Q3, Q4, Q6</a:t>
            </a:r>
          </a:p>
          <a:p>
            <a:r>
              <a:t>en copier-coller depuis dremio/sql/validation_dremio.sql.</a:t>
            </a:r>
          </a:p>
          <a:p/>
          <a:p>
            <a:r>
              <a:t>Dans les deux cas, MONTRER D'ABORD l'arborescence de la source dans Dremio :</a:t>
            </a:r>
          </a:p>
          <a:p>
            <a:r>
              <a:t>lakehouse &gt; bronze / silver / gold. « Ces tables ne sont déclarées nulle part</a:t>
            </a:r>
          </a:p>
          <a:p>
            <a:r>
              <a:t>dans Dremio : c'est Nessie qui les décrit, Dremio ne fait que lire le catalogue. »</a:t>
            </a:r>
          </a:p>
          <a:p/>
          <a:p>
            <a:r>
              <a:t>Sur Q1 : « en Bronze, la colonne rating est encore un STRUCT, et chaque ligne</a:t>
            </a:r>
          </a:p>
          <a:p>
            <a:r>
              <a:t>sait de quel objet MinIO elle provient et à quel instant réel l'appel a eu</a:t>
            </a:r>
          </a:p>
          <a:p>
            <a:r>
              <a:t>lieu. »</a:t>
            </a:r>
          </a:p>
          <a:p/>
          <a:p>
            <a:r>
              <a:t>Sur Q2 : « en Silver, plus aucune structure imbriquée, un prix décimal, et la</a:t>
            </a:r>
          </a:p>
          <a:p>
            <a:r>
              <a:t>mesure brute conservée à côté de la mesure historisée. »</a:t>
            </a:r>
          </a:p>
          <a:p/>
          <a:p>
            <a:r>
              <a:t>Sur Q4, LA JOINTURE : « trois domaines réunis — commandes, produits, clients.</a:t>
            </a:r>
          </a:p>
          <a:p>
            <a:r>
              <a:t>Et la jointure sur les produits est temporelle. »</a:t>
            </a:r>
          </a:p>
          <a:p/>
          <a:p>
            <a:r>
              <a:t>Sur Q6, L'AGRÉGATION : « six mois agrégés par mois et par catégorie. C'est la</a:t>
            </a:r>
          </a:p>
          <a:p>
            <a:r>
              <a:t>démonstration directe que la contrainte d'historisation produit de la valeur. »</a:t>
            </a:r>
          </a:p>
          <a:p/>
          <a:p>
            <a:r>
              <a:t>Si le temps le permet, montrer une vue de l'espace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[13:00 — 14:15]  BOUT EN BOUT — LA SÉQUENCE QUI PROUVE TOUT</a:t>
            </a:r>
          </a:p>
          <a:p/>
          <a:p>
            <a:r>
              <a:t>C'est la séquence que le jury attend le plus. Elle doit être RÉPÉTÉE avant</a:t>
            </a:r>
          </a:p>
          <a:p>
            <a:r>
              <a:t>l'enregistrement, chronomètre en main.</a:t>
            </a:r>
          </a:p>
          <a:p/>
          <a:p>
            <a:r>
              <a:t>Disposer les onglets à l'avance : Airflow, NiFi, MinIO, Dremio.</a:t>
            </a:r>
          </a:p>
          <a:p/>
          <a:p>
            <a:r>
              <a:t>« Je déclenche maintenant le DAG d'ingestion quotidienne. »</a:t>
            </a:r>
          </a:p>
          <a:p>
            <a:r>
              <a:t>   → Airflow, bouton Trigger. Montrer le graphe : vérifier NiFi, déclencher,</a:t>
            </a:r>
          </a:p>
          <a:p>
            <a:r>
              <a:t>     attendre le dépôt, vérifier la volumétrie, déclencher le médaillon.</a:t>
            </a:r>
          </a:p>
          <a:p/>
          <a:p>
            <a:r>
              <a:t>« Airflow ne récupère pas les données lui-même : il demande à NiFi de le faire.</a:t>
            </a:r>
          </a:p>
          <a:p>
            <a:r>
              <a:t>NiFi reste l'unique point d'ingestion. »</a:t>
            </a:r>
          </a:p>
          <a:p>
            <a:r>
              <a:t>   → basculer sur NiFi, montrer les compteurs qui bougent.</a:t>
            </a:r>
          </a:p>
          <a:p/>
          <a:p>
            <a:r>
              <a:t>« Et voici le dépôt. »</a:t>
            </a:r>
          </a:p>
          <a:p>
            <a:r>
              <a:t>   → MinIO, rafraîchir sur ingest_date d'aujourd'hui.</a:t>
            </a:r>
          </a:p>
          <a:p/>
          <a:p>
            <a:r>
              <a:t>« La tâche attendre_depot ne suppose pas que NiFi a terminé : elle OBSERVE la</a:t>
            </a:r>
          </a:p>
          <a:p>
            <a:r>
              <a:t>zone brute jusqu'à constater le dépôt. C'est l'option A. »</a:t>
            </a:r>
          </a:p>
          <a:p/>
          <a:p>
            <a:r>
              <a:t>   → retour Airflow, le médaillon a démarré tout seul.</a:t>
            </a:r>
          </a:p>
          <a:p>
            <a:r>
              <a:t>   → Spark master : l'application tourne.</a:t>
            </a:r>
          </a:p>
          <a:p>
            <a:r>
              <a:t>   → tâches au vert jusqu'aux contrôles qualité.</a:t>
            </a:r>
          </a:p>
          <a:p/>
          <a:p>
            <a:r>
              <a:t>« Et la donnée est immédiatement interrogeable. »</a:t>
            </a:r>
          </a:p>
          <a:p>
            <a:r>
              <a:t>   → Dremio, rejouer Q3, montrer la date du jour.</a:t>
            </a:r>
          </a:p>
          <a:p/>
          <a:p>
            <a:r>
              <a:t>SI ÇA COINCE : ne pas s'acharner. Passer au filet de sécurité (curl direct),</a:t>
            </a:r>
          </a:p>
          <a:p>
            <a:r>
              <a:t>ou dire « le run précédent est visible ici » et montrer le résultat. Un incident</a:t>
            </a:r>
          </a:p>
          <a:p>
            <a:r>
              <a:t>géré calmement est mieux perçu qu'un silence de trente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[14:15 — 14:35]  BONUS</a:t>
            </a:r>
          </a:p>
          <a:p/>
          <a:p>
            <a:r>
              <a:t>Passer vite, en citant les cinq. Si le temps le permet (et seulement dans ce</a:t>
            </a:r>
          </a:p>
          <a:p>
            <a:r>
              <a:t>cas), basculer sur le terminal et lancer `make demo-iceberg` pour montrer le</a:t>
            </a:r>
          </a:p>
          <a:p>
            <a:r>
              <a:t>time travel : deux snapshots comparés, puis une branche Nessie créée, modifiée,</a:t>
            </a:r>
          </a:p>
          <a:p>
            <a:r>
              <a:t>et main resté intact.</a:t>
            </a:r>
          </a:p>
          <a:p/>
          <a:p>
            <a:r>
              <a:t>« Les cinq bonus proposés sont couverts. Le plus intéressant est le dernier :</a:t>
            </a:r>
          </a:p>
          <a:p>
            <a:r>
              <a:t>Nessie apporte un vrai versionnement de branche, comme git. On peut recalculer</a:t>
            </a:r>
          </a:p>
          <a:p>
            <a:r>
              <a:t>un agrégat sur une branche, le contrôler, et ne fusionner que si le résultat</a:t>
            </a:r>
          </a:p>
          <a:p>
            <a:r>
              <a:t>convient.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[14:35 — 14:50]  DIFFICULTÉS</a:t>
            </a:r>
          </a:p>
          <a:p/>
          <a:p>
            <a:r>
              <a:t>Ne PAS lire le tableau. En développer deux, celles qui montrent le mieux la</a:t>
            </a:r>
          </a:p>
          <a:p>
            <a:r>
              <a:t>compréhension :</a:t>
            </a:r>
          </a:p>
          <a:p/>
          <a:p>
            <a:r>
              <a:t>« Deux difficultés m'ont vraiment occupé. La première : dans Spark, il y a deux</a:t>
            </a:r>
          </a:p>
          <a:p>
            <a:r>
              <a:t>chemins d'accès à S3 qui n'ont rien à voir. Lire les JSON bruts passe par le</a:t>
            </a:r>
          </a:p>
          <a:p>
            <a:r>
              <a:t>connecteur s3a de Hadoop ; écrire les tables Iceberg passe par S3FileIO, qui</a:t>
            </a:r>
          </a:p>
          <a:p>
            <a:r>
              <a:t>utilise le SDK AWS v2. Les deux doivent être configurés séparément — tant que</a:t>
            </a:r>
          </a:p>
          <a:p>
            <a:r>
              <a:t>je n'avais configuré que l'un, la moitié du pipeline échouait sans message</a:t>
            </a:r>
          </a:p>
          <a:p>
            <a:r>
              <a:t>clair.</a:t>
            </a:r>
          </a:p>
          <a:p/>
          <a:p>
            <a:r>
              <a:t>La seconde : le driver Spark tourne dans le conteneur Airflow, en mode client.</a:t>
            </a:r>
          </a:p>
          <a:p>
            <a:r>
              <a:t>Il fallait donc y installer non seulement un JRE, mais la même version de Spark</a:t>
            </a:r>
          </a:p>
          <a:p>
            <a:r>
              <a:t>et les mêmes JARs que le cluster — le protocole RPC entre master et worker n'est</a:t>
            </a:r>
          </a:p>
          <a:p>
            <a:r>
              <a:t>pas garanti compatible entre versions mineures.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[14:50 — 15:10]  BILAN ET CLÔTURE</a:t>
            </a:r>
          </a:p>
          <a:p/>
          <a:p>
            <a:r>
              <a:t>« Pour conclure : onze services, douze processeurs NiFi, dix tables Iceberg,</a:t>
            </a:r>
          </a:p>
          <a:p>
            <a:r>
              <a:t>trois domaines fonctionnels, cent quatre-vingts snapshots quotidiens.</a:t>
            </a:r>
          </a:p>
          <a:p/>
          <a:p>
            <a:r>
              <a:t>Ce dont je suis le plus satisfait, c'est que l'idempotence soit réelle à tous</a:t>
            </a:r>
          </a:p>
          <a:p>
            <a:r>
              <a:t>les étages, et que la donnée porte toujours sa nature — on sait toujours si une</a:t>
            </a:r>
          </a:p>
          <a:p>
            <a:r>
              <a:t>mesure est observée ou reconstruite.</a:t>
            </a:r>
          </a:p>
          <a:p/>
          <a:p>
            <a:r>
              <a:t>Ce que je ferais différemment à plus grande échelle : Gold est recalculé</a:t>
            </a:r>
          </a:p>
          <a:p>
            <a:r>
              <a:t>intégralement, ce qui ne tiendrait pas au-delà de quelques millions de lignes ;</a:t>
            </a:r>
          </a:p>
          <a:p>
            <a:r>
              <a:t>et j'ai fait des compromis assumés sur la sécurité de NiFi, adaptés à un</a:t>
            </a:r>
          </a:p>
          <a:p>
            <a:r>
              <a:t>environnement local mais pas à une production.</a:t>
            </a:r>
          </a:p>
          <a:p/>
          <a:p>
            <a:r>
              <a:t>Merci de votre attention. »</a:t>
            </a:r>
          </a:p>
          <a:p/>
          <a:p>
            <a:r>
              <a:t>ARRÊTER L'ENREGISTREMENT ICI. Viser 15 min ± 1 min : le respect du format fait</a:t>
            </a:r>
          </a:p>
          <a:p>
            <a:r>
              <a:t>partie de la notation.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DE SECOURS — ne pas la montrer dans le déroulé normal.</a:t>
            </a:r>
          </a:p>
          <a:p/>
          <a:p>
            <a:r>
              <a:t>À utiliser si l'enseignant pose une question sur les versions, la compatibilité</a:t>
            </a:r>
          </a:p>
          <a:p>
            <a:r>
              <a:t>entre Iceberg et Nessie, ou l'accès aux interfaces.</a:t>
            </a:r>
          </a:p>
          <a:p/>
          <a:p>
            <a:r>
              <a:t>Point de compatibilité à connaître par cœur :</a:t>
            </a:r>
          </a:p>
          <a:p>
            <a:r>
              <a:t>  Spark 3.5.1 → iceberg-spark-runtime-3.5_2.12:1.5.2</a:t>
            </a:r>
          </a:p>
          <a:p>
            <a:r>
              <a:t>              → nessie-spark-extensions-3.5_2.12:0.77.1</a:t>
            </a:r>
          </a:p>
          <a:p>
            <a:r>
              <a:t>              → hadoop-aws 3.3.4 + aws-java-sdk-bundle 1.12.262</a:t>
            </a:r>
          </a:p>
          <a:p>
            <a:r>
              <a:t>Les JARs sont embarqués dans l'image, pas résolus par --packages : le pipeline</a:t>
            </a:r>
          </a:p>
          <a:p>
            <a:r>
              <a:t>est reproductible et fonctionne sans accès Internet.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9184" y="0"/>
            <a:ext cx="164592" cy="6858000"/>
          </a:xfrm>
          <a:prstGeom prst="rect">
            <a:avLst/>
          </a:prstGeom>
          <a:solidFill>
            <a:srgbClr val="4C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05156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9AB0CC"/>
                </a:solidFill>
                <a:latin typeface="Segoe UI"/>
              </a:rPr>
              <a:t>DIT — DAKAR INSTITUTE OF TECHNOLOGIES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389888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AB0CC"/>
                </a:solidFill>
                <a:latin typeface="Segoe UI"/>
              </a:rPr>
              <a:t>Master 2 — Ingénierie des Données / Big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057400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E9EFF7"/>
                </a:solidFill>
                <a:latin typeface="Segoe UI"/>
              </a:rPr>
              <a:t>Plateforme Data Lakehouse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FF7A1A"/>
                </a:solidFill>
                <a:latin typeface="Segoe UI"/>
              </a:rPr>
              <a:t>Ingestion Apache NiFi depuis une API publique vers MinIO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36499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9AB0CC"/>
                </a:solidFill>
                <a:latin typeface="Segoe UI"/>
              </a:rPr>
              <a:t>Médaillon Bronze → Silver → Gold en Apache Iceberg, catalogue Nessie, requêtage Dremio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069080"/>
            <a:ext cx="9692640" cy="36576"/>
          </a:xfrm>
          <a:prstGeom prst="rect">
            <a:avLst/>
          </a:prstGeom>
          <a:solidFill>
            <a:srgbClr val="1E2F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3891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500" b="0" i="0">
                <a:solidFill>
                  <a:srgbClr val="9AB0CC"/>
                </a:solidFill>
                <a:latin typeface="Segoe UI"/>
              </a:rPr>
              <a:t>Module : </a:t>
            </a:r>
            <a:r>
              <a:rPr sz="1500" b="0" i="0">
                <a:solidFill>
                  <a:srgbClr val="E9EFF7"/>
                </a:solidFill>
                <a:latin typeface="Segoe UI"/>
              </a:rPr>
              <a:t>Architectures Data Lakehouse &amp; Ingestion de données</a:t>
            </a:r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sz="1500" b="0" i="0">
                <a:solidFill>
                  <a:srgbClr val="9AB0CC"/>
                </a:solidFill>
                <a:latin typeface="Segoe UI"/>
              </a:rPr>
              <a:t>Enseignant : </a:t>
            </a:r>
            <a:r>
              <a:rPr sz="1500" b="0" i="0">
                <a:solidFill>
                  <a:srgbClr val="E9EFF7"/>
                </a:solidFill>
                <a:latin typeface="Segoe UI"/>
              </a:rPr>
              <a:t>M. PENE — Data Engineer &amp; Data Lecturer</a:t>
            </a:r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sz="1500" b="0" i="0">
                <a:solidFill>
                  <a:srgbClr val="9AB0CC"/>
                </a:solidFill>
                <a:latin typeface="Segoe UI"/>
              </a:rPr>
              <a:t>Épreuve : </a:t>
            </a:r>
            <a:r>
              <a:rPr sz="1500" b="0" i="0">
                <a:solidFill>
                  <a:srgbClr val="E9EFF7"/>
                </a:solidFill>
                <a:latin typeface="Segoe UI"/>
              </a:rPr>
              <a:t>examen individuel à domicile — soutenance vidéo 15 minutes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C4B6"/>
                </a:solidFill>
                <a:latin typeface="Segoe UI"/>
              </a:rPr>
              <a:t>Nom Prénom  ·  Promotion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14173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9EFF7"/>
                </a:solidFill>
                <a:latin typeface="Segoe UI"/>
              </a:rPr>
              <a:t>Déroulé de la soutenance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9AB0CC"/>
                </a:solidFill>
                <a:latin typeface="Segoe UI"/>
              </a:rPr>
              <a:t>7 séquences — 15 minutes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10835640" cy="576072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00200"/>
            <a:ext cx="64008" cy="57607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28216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EC4B6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755648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9EFF7"/>
                </a:solidFill>
                <a:latin typeface="Segoe UI"/>
              </a:rPr>
              <a:t>Architecture conçue et choix structurants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773936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9AB0CC"/>
                </a:solidFill>
                <a:latin typeface="Segoe UI"/>
              </a:rPr>
              <a:t>1 à 2 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66960" y="1737360"/>
            <a:ext cx="960120" cy="301752"/>
          </a:xfrm>
          <a:prstGeom prst="roundRect">
            <a:avLst>
              <a:gd name="adj" fmla="val 8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0" y="1783080"/>
            <a:ext cx="960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D1522"/>
                </a:solidFill>
                <a:latin typeface="Segoe UI"/>
              </a:rPr>
              <a:t>EXPOSÉ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86000"/>
            <a:ext cx="10835640" cy="576072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286000"/>
            <a:ext cx="64008" cy="576072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14016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F7A1A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441448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9EFF7"/>
                </a:solidFill>
                <a:latin typeface="Segoe UI"/>
              </a:rPr>
              <a:t>Revue du docker-compose : services, réseau, volumes, ports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459736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9AB0CC"/>
                </a:solidFill>
                <a:latin typeface="Segoe UI"/>
              </a:rPr>
              <a:t>1 à 2 min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66960" y="2423160"/>
            <a:ext cx="960120" cy="301752"/>
          </a:xfrm>
          <a:prstGeom prst="roundRect">
            <a:avLst>
              <a:gd name="adj" fmla="val 8000"/>
            </a:avLst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0" y="2468880"/>
            <a:ext cx="960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D1522"/>
                </a:solidFill>
                <a:latin typeface="Segoe UI"/>
              </a:rPr>
              <a:t>ÉCRAN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2971800"/>
            <a:ext cx="10835640" cy="576072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71800"/>
            <a:ext cx="64008" cy="576072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099816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F7A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27248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9EFF7"/>
                </a:solidFill>
                <a:latin typeface="Segoe UI"/>
              </a:rPr>
              <a:t>Flow NiFi : processeurs, dépôt MinIO, routage, erreurs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145536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9AB0CC"/>
                </a:solidFill>
                <a:latin typeface="Segoe UI"/>
              </a:rPr>
              <a:t>3 min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66960" y="3108960"/>
            <a:ext cx="960120" cy="301752"/>
          </a:xfrm>
          <a:prstGeom prst="roundRect">
            <a:avLst>
              <a:gd name="adj" fmla="val 8000"/>
            </a:avLst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3154680"/>
            <a:ext cx="960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D1522"/>
                </a:solidFill>
                <a:latin typeface="Segoe UI"/>
              </a:rPr>
              <a:t>ÉCRAN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3657600"/>
            <a:ext cx="10835640" cy="576072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657600"/>
            <a:ext cx="64008" cy="576072"/>
          </a:xfrm>
          <a:prstGeom prst="rect">
            <a:avLst/>
          </a:prstGeom>
          <a:solidFill>
            <a:srgbClr val="4C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3785616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4CA5FF"/>
                </a:solidFill>
                <a:latin typeface="Segoe U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3813048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9EFF7"/>
                </a:solidFill>
                <a:latin typeface="Segoe UI"/>
              </a:rPr>
              <a:t>Jobs Spark du médaillon Bronze / Silver / Gold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831336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9AB0CC"/>
                </a:solidFill>
                <a:latin typeface="Segoe UI"/>
              </a:rPr>
              <a:t>2 à 3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66960" y="3794760"/>
            <a:ext cx="960120" cy="301752"/>
          </a:xfrm>
          <a:prstGeom prst="roundRect">
            <a:avLst>
              <a:gd name="adj" fmla="val 8000"/>
            </a:avLst>
          </a:prstGeom>
          <a:solidFill>
            <a:srgbClr val="4C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66960" y="3840480"/>
            <a:ext cx="960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D1522"/>
                </a:solidFill>
                <a:latin typeface="Segoe UI"/>
              </a:rPr>
              <a:t>ÉCRAN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4343400"/>
            <a:ext cx="10835640" cy="576072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5800" y="4343400"/>
            <a:ext cx="64008" cy="576072"/>
          </a:xfrm>
          <a:prstGeom prst="rect">
            <a:avLst/>
          </a:prstGeom>
          <a:solidFill>
            <a:srgbClr val="A9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4471416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A98BFF"/>
                </a:solidFill>
                <a:latin typeface="Segoe U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4498848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9EFF7"/>
                </a:solidFill>
                <a:latin typeface="Segoe UI"/>
              </a:rPr>
              <a:t>Test Dremio : par couche, jointure, agrégation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4517136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9AB0CC"/>
                </a:solidFill>
                <a:latin typeface="Segoe UI"/>
              </a:rPr>
              <a:t>2 à 3 min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66960" y="4480560"/>
            <a:ext cx="960120" cy="301752"/>
          </a:xfrm>
          <a:prstGeom prst="roundRect">
            <a:avLst>
              <a:gd name="adj" fmla="val 8000"/>
            </a:avLst>
          </a:prstGeom>
          <a:solidFill>
            <a:srgbClr val="A9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966960" y="4526280"/>
            <a:ext cx="960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D1522"/>
                </a:solidFill>
                <a:latin typeface="Segoe UI"/>
              </a:rPr>
              <a:t>ÉCRAN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" y="5029200"/>
            <a:ext cx="10835640" cy="576072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85800" y="5029200"/>
            <a:ext cx="64008" cy="576072"/>
          </a:xfrm>
          <a:prstGeom prst="rect">
            <a:avLst/>
          </a:prstGeom>
          <a:solidFill>
            <a:srgbClr val="5AD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0120" y="5157216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5AD18B"/>
                </a:solidFill>
                <a:latin typeface="Segoe UI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63040" y="5184648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9EFF7"/>
                </a:solidFill>
                <a:latin typeface="Segoe UI"/>
              </a:rPr>
              <a:t>Démonstration de bout en bout, en direct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9640" y="5202936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9AB0CC"/>
                </a:solidFill>
                <a:latin typeface="Segoe UI"/>
              </a:rPr>
              <a:t>2 à 3 min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66960" y="5166360"/>
            <a:ext cx="960120" cy="301752"/>
          </a:xfrm>
          <a:prstGeom prst="roundRect">
            <a:avLst>
              <a:gd name="adj" fmla="val 8000"/>
            </a:avLst>
          </a:prstGeom>
          <a:solidFill>
            <a:srgbClr val="5AD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66960" y="5212080"/>
            <a:ext cx="960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D1522"/>
                </a:solidFill>
                <a:latin typeface="Segoe UI"/>
              </a:rPr>
              <a:t>ÉCRAN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5800" y="5715000"/>
            <a:ext cx="10835640" cy="576072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5800" y="5715000"/>
            <a:ext cx="64008" cy="57607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0120" y="5843016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EC4B6"/>
                </a:solidFill>
                <a:latin typeface="Segoe UI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63040" y="5870448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9EFF7"/>
                </a:solidFill>
                <a:latin typeface="Segoe UI"/>
              </a:rPr>
              <a:t>Bilan : difficultés, choix, bonus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49640" y="5888736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9AB0CC"/>
                </a:solidFill>
                <a:latin typeface="Segoe UI"/>
              </a:rPr>
              <a:t>1 min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966960" y="5852160"/>
            <a:ext cx="960120" cy="301752"/>
          </a:xfrm>
          <a:prstGeom prst="roundRect">
            <a:avLst>
              <a:gd name="adj" fmla="val 8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66960" y="5897880"/>
            <a:ext cx="960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D1522"/>
                </a:solidFill>
                <a:latin typeface="Segoe UI"/>
              </a:rPr>
              <a:t>EXPOSÉ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32764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AB0CC"/>
                </a:solidFill>
                <a:latin typeface="Segoe UI"/>
              </a:rPr>
              <a:t>Cinq séquences sur sept se déroulent sur l'écran réel — les diapositives ne servent qu'à structurer.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14173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9EFF7"/>
                </a:solidFill>
                <a:latin typeface="Segoe UI"/>
              </a:rPr>
              <a:t>Ce qui est imposé, ce que j'ai conçu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9AB0CC"/>
                </a:solidFill>
                <a:latin typeface="Segoe UI"/>
              </a:rPr>
              <a:t>Le sujet est un cahier des charges, pas une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5257800" cy="448056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5257800" cy="457200"/>
          </a:xfrm>
          <a:prstGeom prst="roundRect">
            <a:avLst>
              <a:gd name="adj" fmla="val 8000"/>
            </a:avLst>
          </a:prstGeom>
          <a:solidFill>
            <a:srgbClr val="1E2F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733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9AB0CC"/>
                </a:solidFill>
                <a:latin typeface="Segoe UI"/>
              </a:rPr>
              <a:t>IMPOSÉ PAR LE SUJET</a:t>
            </a:r>
          </a:p>
        </p:txBody>
      </p:sp>
      <p:sp>
        <p:nvSpPr>
          <p:cNvPr id="8" name="Rectangle 7"/>
          <p:cNvSpPr/>
          <p:nvPr/>
        </p:nvSpPr>
        <p:spPr>
          <a:xfrm>
            <a:off x="978408" y="2249424"/>
            <a:ext cx="100584" cy="100584"/>
          </a:xfrm>
          <a:prstGeom prst="rect">
            <a:avLst/>
          </a:prstGeom>
          <a:solidFill>
            <a:srgbClr val="9AB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16152" y="21488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FF7"/>
                </a:solidFill>
                <a:latin typeface="Segoe UI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214884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FakeStoreAPI — aucun CSV statique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8408" y="2660904"/>
            <a:ext cx="100584" cy="100584"/>
          </a:xfrm>
          <a:prstGeom prst="rect">
            <a:avLst/>
          </a:prstGeom>
          <a:solidFill>
            <a:srgbClr val="9AB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16152" y="25603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FF7"/>
                </a:solidFill>
                <a:latin typeface="Segoe UI"/>
              </a:rPr>
              <a:t>Ingestion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56032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NiFi seul point d'entrée, sans transformation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8408" y="3072384"/>
            <a:ext cx="100584" cy="100584"/>
          </a:xfrm>
          <a:prstGeom prst="rect">
            <a:avLst/>
          </a:prstGeom>
          <a:solidFill>
            <a:srgbClr val="9AB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16152" y="297180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FF7"/>
                </a:solidFill>
                <a:latin typeface="Segoe UI"/>
              </a:rPr>
              <a:t>Stockage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9718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MinIO — zone brute séparée du warehouse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8408" y="3483864"/>
            <a:ext cx="100584" cy="100584"/>
          </a:xfrm>
          <a:prstGeom prst="rect">
            <a:avLst/>
          </a:prstGeom>
          <a:solidFill>
            <a:srgbClr val="9AB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6152" y="33832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FF7"/>
                </a:solidFill>
                <a:latin typeface="Segoe UI"/>
              </a:rPr>
              <a:t>Format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38328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Iceberg, catalogue Project Nessie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" y="3895344"/>
            <a:ext cx="100584" cy="100584"/>
          </a:xfrm>
          <a:prstGeom prst="rect">
            <a:avLst/>
          </a:prstGeom>
          <a:solidFill>
            <a:srgbClr val="9AB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6152" y="37947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FF7"/>
                </a:solidFill>
                <a:latin typeface="Segoe UI"/>
              </a:rPr>
              <a:t>Traitement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37947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Spark : 1 master + au moins 1 worker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8408" y="4306824"/>
            <a:ext cx="100584" cy="100584"/>
          </a:xfrm>
          <a:prstGeom prst="rect">
            <a:avLst/>
          </a:prstGeom>
          <a:solidFill>
            <a:srgbClr val="9AB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16152" y="4206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FF7"/>
                </a:solidFill>
                <a:latin typeface="Segoe UI"/>
              </a:rPr>
              <a:t>Orchestration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420624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Airflow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8408" y="4718304"/>
            <a:ext cx="100584" cy="100584"/>
          </a:xfrm>
          <a:prstGeom prst="rect">
            <a:avLst/>
          </a:prstGeom>
          <a:solidFill>
            <a:srgbClr val="9AB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16152" y="46177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FF7"/>
                </a:solidFill>
                <a:latin typeface="Segoe UI"/>
              </a:rPr>
              <a:t>Requêtage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461772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Dremio OSS — sans substitut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8408" y="5129784"/>
            <a:ext cx="100584" cy="100584"/>
          </a:xfrm>
          <a:prstGeom prst="rect">
            <a:avLst/>
          </a:prstGeom>
          <a:solidFill>
            <a:srgbClr val="9AB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16152" y="502920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FF7"/>
                </a:solidFill>
                <a:latin typeface="Segoe UI"/>
              </a:rPr>
              <a:t>Supervision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06040" y="50292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Prometheus + Grafana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8408" y="5541264"/>
            <a:ext cx="100584" cy="100584"/>
          </a:xfrm>
          <a:prstGeom prst="rect">
            <a:avLst/>
          </a:prstGeom>
          <a:solidFill>
            <a:srgbClr val="9AB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16152" y="54406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FF7"/>
                </a:solidFill>
                <a:latin typeface="Segoe UI"/>
              </a:rPr>
              <a:t>Historique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544068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environ 6 mois de données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1554480"/>
            <a:ext cx="5257800" cy="448056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263640" y="1554480"/>
            <a:ext cx="5257800" cy="457200"/>
          </a:xfrm>
          <a:prstGeom prst="roundRect">
            <a:avLst>
              <a:gd name="adj" fmla="val 8000"/>
            </a:avLst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16733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D1522"/>
                </a:solidFill>
                <a:latin typeface="Segoe UI"/>
              </a:rPr>
              <a:t>DE MA CONCEPTION — ET DONC ÉVALUÉ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56248" y="2249424"/>
            <a:ext cx="100584" cy="10058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93992" y="21488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FF7"/>
                </a:solidFill>
                <a:latin typeface="Segoe UI"/>
              </a:rPr>
              <a:t>Topologie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21488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11 services, 1 réseau, 13 volumes, ordre de boot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56248" y="2660904"/>
            <a:ext cx="100584" cy="10058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93992" y="25603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FF7"/>
                </a:solidFill>
                <a:latin typeface="Segoe UI"/>
              </a:rPr>
              <a:t>Flow NiFi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256032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12 processeurs, 3 chemins de reprise, file de rebut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56248" y="3072384"/>
            <a:ext cx="100584" cy="10058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93992" y="297180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FF7"/>
                </a:solidFill>
                <a:latin typeface="Segoe UI"/>
              </a:rPr>
              <a:t>Zone brute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5320" y="297180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convention de clés partitionnée par date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56248" y="3483864"/>
            <a:ext cx="100584" cy="10058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93992" y="338328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FF7"/>
                </a:solidFill>
                <a:latin typeface="Segoe UI"/>
              </a:rPr>
              <a:t>Médaillon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5320" y="33832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contrat de chaque couche, 10 tables Iceberg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56248" y="3895344"/>
            <a:ext cx="100584" cy="10058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93992" y="379476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FF7"/>
                </a:solidFill>
                <a:latin typeface="Segoe UI"/>
              </a:rPr>
              <a:t>Historisation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7947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modèle déterministe à 3 niveaux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56248" y="4306824"/>
            <a:ext cx="100584" cy="10058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93992" y="42062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FF7"/>
                </a:solidFill>
                <a:latin typeface="Segoe UI"/>
              </a:rPr>
              <a:t>Orchestration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75320" y="42062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3 DAGs, option A justifiée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56248" y="4718304"/>
            <a:ext cx="100584" cy="10058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793992" y="46177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FF7"/>
                </a:solidFill>
                <a:latin typeface="Segoe UI"/>
              </a:rPr>
              <a:t>Idempotence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75320" y="461772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cache NiFi + overwritePartitions Spark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56248" y="5129784"/>
            <a:ext cx="100584" cy="10058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793992" y="502920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FF7"/>
                </a:solidFill>
                <a:latin typeface="Segoe UI"/>
              </a:rPr>
              <a:t>Qualité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75320" y="502920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7 contrôles dont une réconciliation croisée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556248" y="5541264"/>
            <a:ext cx="100584" cy="10058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793992" y="544068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FF7"/>
                </a:solidFill>
                <a:latin typeface="Segoe UI"/>
              </a:rPr>
              <a:t>Restitution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75320" y="54406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10 requêtes de validation + 3 vues Dremio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1417320"/>
          </a:xfrm>
          <a:prstGeom prst="rect">
            <a:avLst/>
          </a:prstGeom>
          <a:solidFill>
            <a:srgbClr val="4C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9EFF7"/>
                </a:solidFill>
                <a:latin typeface="Segoe UI"/>
              </a:rPr>
              <a:t>Architecture de la plateforme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9AB0CC"/>
                </a:solidFill>
                <a:latin typeface="Segoe UI"/>
              </a:rPr>
              <a:t>Un seul réseau Docker — chaque service en désigne un autre par son nom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72768"/>
            <a:ext cx="1828800" cy="86868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 w="20320">
            <a:solidFill>
              <a:srgbClr val="9AB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1682496"/>
            <a:ext cx="15727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9AB0CC"/>
                </a:solidFill>
                <a:latin typeface="Segoe UI"/>
              </a:rPr>
              <a:t>FakeStoreAPI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1975104"/>
            <a:ext cx="15727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AB0CC"/>
                </a:solidFill>
                <a:latin typeface="Segoe UI"/>
              </a:rPr>
              <a:t>/products</a:t>
            </a:r>
          </a:p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AB0CC"/>
                </a:solidFill>
                <a:latin typeface="Segoe UI"/>
              </a:rPr>
              <a:t>/users · /carts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1463040"/>
            <a:ext cx="2331720" cy="109728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 w="2032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08376" y="1572768"/>
            <a:ext cx="20756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7A1A"/>
                </a:solidFill>
                <a:latin typeface="Segoe UI"/>
              </a:rPr>
              <a:t>APACHE NIFI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8376" y="1865376"/>
            <a:ext cx="207568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AB0CC"/>
                </a:solidFill>
                <a:latin typeface="Segoe UI"/>
              </a:rPr>
              <a:t>unique point d'ingestion</a:t>
            </a:r>
          </a:p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AB0CC"/>
                </a:solidFill>
                <a:latin typeface="Segoe UI"/>
              </a:rPr>
              <a:t>collecte · contrôle · dépôt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1463040"/>
            <a:ext cx="2514600" cy="109728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 w="2032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856" y="1572768"/>
            <a:ext cx="22585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EC4B6"/>
                </a:solidFill>
                <a:latin typeface="Segoe UI"/>
              </a:rPr>
              <a:t>MinIO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05856" y="1865376"/>
            <a:ext cx="225856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AB0CC"/>
                </a:solidFill>
                <a:latin typeface="Segoe UI"/>
              </a:rPr>
              <a:t>lakehouse-raw  (JSON)</a:t>
            </a:r>
          </a:p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AB0CC"/>
                </a:solidFill>
                <a:latin typeface="Segoe UI"/>
              </a:rPr>
              <a:t>lakehouse-warehouse  (Parquet)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1463040"/>
            <a:ext cx="3017520" cy="109728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 w="2032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6" y="1572768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EC4B6"/>
                </a:solidFill>
                <a:latin typeface="Segoe UI"/>
              </a:rPr>
              <a:t>PROJECT NESSIE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6" y="1865376"/>
            <a:ext cx="276148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AB0CC"/>
                </a:solidFill>
                <a:latin typeface="Segoe UI"/>
              </a:rPr>
              <a:t>catalogue Iceberg versionné</a:t>
            </a:r>
          </a:p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AB0CC"/>
                </a:solidFill>
                <a:latin typeface="Segoe UI"/>
              </a:rPr>
              <a:t>version store JDBC PostgreSQL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80360" y="2971800"/>
            <a:ext cx="5212080" cy="123444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 w="20320">
            <a:solidFill>
              <a:srgbClr val="4CA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08376" y="3081528"/>
            <a:ext cx="4956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4CA5FF"/>
                </a:solidFill>
                <a:latin typeface="Segoe UI"/>
              </a:rPr>
              <a:t>APACHE SPARK — 1 master + 2 workers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8376" y="3374136"/>
            <a:ext cx="495604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bronze.raw_*   →   silver.dim_* / fct_*   →   gold.gold_*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10 tables Apache Iceberg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2971800"/>
            <a:ext cx="1828800" cy="123444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 w="20320">
            <a:solidFill>
              <a:srgbClr val="4CA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" y="3081528"/>
            <a:ext cx="15727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4CA5FF"/>
                </a:solidFill>
                <a:latin typeface="Segoe UI"/>
              </a:rPr>
              <a:t>AIRFLOW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" y="3374136"/>
            <a:ext cx="157276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AB0CC"/>
                </a:solidFill>
                <a:latin typeface="Segoe UI"/>
              </a:rPr>
              <a:t>backfill</a:t>
            </a:r>
          </a:p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AB0CC"/>
                </a:solidFill>
                <a:latin typeface="Segoe UI"/>
              </a:rPr>
              <a:t>ingestion</a:t>
            </a:r>
          </a:p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AB0CC"/>
                </a:solidFill>
                <a:latin typeface="Segoe UI"/>
              </a:rPr>
              <a:t>médaillon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58200" y="2971800"/>
            <a:ext cx="3017520" cy="123444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 w="20320">
            <a:solidFill>
              <a:srgbClr val="A98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86216" y="3081528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98BFF"/>
                </a:solidFill>
                <a:latin typeface="Segoe UI"/>
              </a:rPr>
              <a:t>DREMIO OSS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86216" y="3374136"/>
            <a:ext cx="276148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AB0CC"/>
                </a:solidFill>
                <a:latin typeface="Segoe UI"/>
              </a:rPr>
              <a:t>moteur SQL du lakehouse</a:t>
            </a:r>
          </a:p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AB0CC"/>
                </a:solidFill>
                <a:latin typeface="Segoe UI"/>
              </a:rPr>
              <a:t>10 requêtes de validation</a:t>
            </a:r>
          </a:p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AB0CC"/>
                </a:solidFill>
                <a:latin typeface="Segoe UI"/>
              </a:rPr>
              <a:t>3 vues métier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663440"/>
            <a:ext cx="3749039" cy="86868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 w="20320">
            <a:solidFill>
              <a:srgbClr val="9AB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" y="4773168"/>
            <a:ext cx="34930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9AB0CC"/>
                </a:solidFill>
                <a:latin typeface="Segoe UI"/>
              </a:rPr>
              <a:t>PostgreSQL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5065776"/>
            <a:ext cx="34930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AB0CC"/>
                </a:solidFill>
                <a:latin typeface="Segoe UI"/>
              </a:rPr>
              <a:t>métadonnées Airflow + Nessie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09160" y="4663440"/>
            <a:ext cx="6766560" cy="86868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 w="20320">
            <a:solidFill>
              <a:srgbClr val="9AB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37176" y="4773168"/>
            <a:ext cx="65105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9AB0CC"/>
                </a:solidFill>
                <a:latin typeface="Segoe UI"/>
              </a:rPr>
              <a:t>Prometheus + Grafana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37176" y="5065776"/>
            <a:ext cx="65105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AB0CC"/>
                </a:solidFill>
                <a:latin typeface="Segoe UI"/>
              </a:rPr>
              <a:t>infrastructure · NiFi (débit d'ingestion) · MinIO · Nessie · Spark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240280" y="2011680"/>
            <a:ext cx="548640" cy="0"/>
          </a:xfrm>
          <a:prstGeom prst="line">
            <a:avLst/>
          </a:prstGeom>
          <a:ln w="27940">
            <a:solidFill>
              <a:srgbClr val="FF7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166360" y="2011680"/>
            <a:ext cx="411480" cy="0"/>
          </a:xfrm>
          <a:prstGeom prst="line">
            <a:avLst/>
          </a:prstGeom>
          <a:ln w="27940">
            <a:solidFill>
              <a:srgbClr val="FF7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092440" y="2011680"/>
            <a:ext cx="365760" cy="0"/>
          </a:xfrm>
          <a:prstGeom prst="line">
            <a:avLst/>
          </a:prstGeom>
          <a:ln w="25400">
            <a:solidFill>
              <a:srgbClr val="2EC4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766560" y="2560320"/>
            <a:ext cx="0" cy="411480"/>
          </a:xfrm>
          <a:prstGeom prst="line">
            <a:avLst/>
          </a:prstGeom>
          <a:ln w="25400">
            <a:solidFill>
              <a:srgbClr val="4CA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514600" y="3584448"/>
            <a:ext cx="365760" cy="0"/>
          </a:xfrm>
          <a:prstGeom prst="line">
            <a:avLst/>
          </a:prstGeom>
          <a:ln w="25400">
            <a:solidFill>
              <a:srgbClr val="4CA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092440" y="3584448"/>
            <a:ext cx="365760" cy="0"/>
          </a:xfrm>
          <a:prstGeom prst="line">
            <a:avLst/>
          </a:prstGeom>
          <a:ln w="25400">
            <a:solidFill>
              <a:srgbClr val="A98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966960" y="2560320"/>
            <a:ext cx="0" cy="411480"/>
          </a:xfrm>
          <a:prstGeom prst="line">
            <a:avLst/>
          </a:prstGeom>
          <a:ln w="25400">
            <a:solidFill>
              <a:srgbClr val="A98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240280" y="1737360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7A1A"/>
                </a:solidFill>
                <a:latin typeface="Segoe UI"/>
              </a:rPr>
              <a:t>HTTP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66360" y="1737360"/>
            <a:ext cx="411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7A1A"/>
                </a:solidFill>
                <a:latin typeface="Segoe UI"/>
              </a:rPr>
              <a:t>S3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32764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AB0CC"/>
                </a:solidFill>
                <a:latin typeface="Segoe UI"/>
              </a:rPr>
              <a:t>Aucune adresse IP dans la configuration : la résolution DNS du réseau « lakehouse » fait tout le travail.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6327648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AB0CC"/>
                </a:solidFill>
                <a:latin typeface="Segoe UI"/>
              </a:rPr>
              <a:t>docs/architecture.md §1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1417320"/>
          </a:xfrm>
          <a:prstGeom prst="rect">
            <a:avLst/>
          </a:prstGeom>
          <a:solidFill>
            <a:srgbClr val="4C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9EFF7"/>
                </a:solidFill>
                <a:latin typeface="Segoe UI"/>
              </a:rPr>
              <a:t>Quatre choix structurants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9AB0CC"/>
                </a:solidFill>
                <a:latin typeface="Segoe UI"/>
              </a:rPr>
              <a:t>Et l'alternative écartée à chaque fois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5257800" cy="201168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68580" cy="2011680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828800"/>
            <a:ext cx="4800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7A1A"/>
                </a:solidFill>
                <a:latin typeface="Segoe UI"/>
              </a:rPr>
              <a:t>NiFi déclenché par ListenHTTP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249424"/>
            <a:ext cx="480060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Airflow POSTe {snapshot_date, domains}.</a:t>
            </a:r>
          </a:p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/>
            </a:r>
          </a:p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Écarté : GenerateFlowFile planifié — il ne sait ingérer que « maintenant », ce qui rend le backfill de 6 mois impossible.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5920"/>
            <a:ext cx="5257800" cy="201168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645920"/>
            <a:ext cx="68580" cy="2011680"/>
          </a:xfrm>
          <a:prstGeom prst="rect">
            <a:avLst/>
          </a:prstGeom>
          <a:solidFill>
            <a:srgbClr val="4C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1828800"/>
            <a:ext cx="4800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4CA5FF"/>
                </a:solidFill>
                <a:latin typeface="Segoe UI"/>
              </a:rPr>
              <a:t>Airflow observe, il n'attend pas de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249424"/>
            <a:ext cx="480060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Option A du sujet : le DAG inspecte la zone brute.</a:t>
            </a:r>
          </a:p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/>
            </a:r>
          </a:p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Écarté : option B seule — un signal perdu fait disparaître les données en silence. L'option B reste câblée et démontrable.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886200"/>
            <a:ext cx="5257800" cy="201168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886200"/>
            <a:ext cx="68580" cy="20116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4069080"/>
            <a:ext cx="4800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EC4B6"/>
                </a:solidFill>
                <a:latin typeface="Segoe UI"/>
              </a:rPr>
              <a:t>JARs embarqués dans l'image Spark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489704"/>
            <a:ext cx="480060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Iceberg 1.5.2 + Nessie 0.77.1 + S3A figés.</a:t>
            </a:r>
          </a:p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/>
            </a:r>
          </a:p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Écarté : --packages au spark-submit — résolution Maven à chaque run, dérive possible entre driver et executors.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886200"/>
            <a:ext cx="5257800" cy="201168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3886200"/>
            <a:ext cx="68580" cy="2011680"/>
          </a:xfrm>
          <a:prstGeom prst="rect">
            <a:avLst/>
          </a:prstGeom>
          <a:solidFill>
            <a:srgbClr val="E0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4069080"/>
            <a:ext cx="4800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0B44A"/>
                </a:solidFill>
                <a:latin typeface="Segoe UI"/>
              </a:rPr>
              <a:t>Gold recalculé intégralement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4489704"/>
            <a:ext cx="480060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createOrReplace : un nouveau snapshot Iceberg, pas un effacement.</a:t>
            </a:r>
          </a:p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/>
            </a:r>
          </a:p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Écarté : MERGE incrémental — aucun gain sur ce volume, et un agrégat peut dériver silencieusement.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"/>
            <a:ext cx="6400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D1522"/>
                </a:solidFill>
                <a:latin typeface="Segoe UI"/>
              </a:rPr>
              <a:t>À L'ÉCRAN — DÉMONSTRATION 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45720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0D1522"/>
                </a:solidFill>
                <a:latin typeface="Segoe UI"/>
              </a:rPr>
              <a:t>Séquence 2 · 1 à 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9EFF7"/>
                </a:solidFill>
                <a:latin typeface="Segoe UI"/>
              </a:rPr>
              <a:t>Revue du docker-compose.yml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7A1A"/>
                </a:solidFill>
                <a:latin typeface="Segoe UI"/>
              </a:rPr>
              <a:t>VS Code — docker-compose.yml, puis un terminal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10835640" cy="749808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64008" cy="749808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193852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FF7"/>
                </a:solidFill>
                <a:latin typeface="Segoe UI"/>
              </a:rPr>
              <a:t>Les 11 services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920240"/>
            <a:ext cx="8092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faire défiler : minio, minio-init, postgres, nessie, spark-master + 2 workers, nifi, dremio, airflow (init/web/scheduler), prometheus, grafana, node-exporter, cadvisor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88336"/>
            <a:ext cx="10835640" cy="749808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2688336"/>
            <a:ext cx="64008" cy="749808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2798064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FF7"/>
                </a:solidFill>
                <a:latin typeface="Segoe UI"/>
              </a:rPr>
              <a:t>Le réseau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779776"/>
            <a:ext cx="8092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un seul bridge « lakehouse » — montrer un endpoint : MINIO_ENDPOINT=http://minio:9000, jamais localhost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547872"/>
            <a:ext cx="10835640" cy="749808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3547872"/>
            <a:ext cx="64008" cy="749808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365760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FF7"/>
                </a:solidFill>
                <a:latin typeface="Segoe UI"/>
              </a:rPr>
              <a:t>Les volumes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639312"/>
            <a:ext cx="8092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les 7 volumes NiFi : flowfile, content, provenance, database, state, conf, logs — l'état survit à un restart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407408"/>
            <a:ext cx="10835640" cy="749808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4407408"/>
            <a:ext cx="64008" cy="749808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451713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FF7"/>
                </a:solidFill>
                <a:latin typeface="Segoe UI"/>
              </a:rPr>
              <a:t>Les healthchecks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498848"/>
            <a:ext cx="8092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montrer depends_on / condition: service_healthy sur nessie et airflow-webserver : l'ordre de démarrage est maîtrisé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266944"/>
            <a:ext cx="10835640" cy="749808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5266944"/>
            <a:ext cx="64008" cy="749808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37667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FF7"/>
                </a:solidFill>
                <a:latin typeface="Segoe UI"/>
              </a:rPr>
              <a:t>Les ports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5358384"/>
            <a:ext cx="8092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8080 NiFi, 8085 Airflow, 8090 Spark, 9001 MinIO, 9047 Dremio — le master Spark est décalé pour laisser 8080 à NiFi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17220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5AD18B"/>
                </a:solidFill>
                <a:latin typeface="Consolas"/>
              </a:rPr>
              <a:t>docker compose ps      →  tous les services en « healthy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"/>
            <a:ext cx="6400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D1522"/>
                </a:solidFill>
                <a:latin typeface="Segoe UI"/>
              </a:rPr>
              <a:t>À L'ÉCRAN — DÉMONSTRATION 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45720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0D1522"/>
                </a:solidFill>
                <a:latin typeface="Segoe UI"/>
              </a:rPr>
              <a:t>Séquence 3 · 3 min · 4 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9EFF7"/>
                </a:solidFill>
                <a:latin typeface="Segoe UI"/>
              </a:rPr>
              <a:t>Le flow d'ingestion 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7A1A"/>
                </a:solidFill>
                <a:latin typeface="Segoe UI"/>
              </a:rPr>
              <a:t>http://localhost:8080/nifi — Process Group « FakeStoreAPI Ingestion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1298448" cy="137160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 w="1651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65959"/>
            <a:ext cx="12984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7A1A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2221991"/>
            <a:ext cx="1188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9EFF7"/>
                </a:solidFill>
                <a:latin typeface="Segoe UI"/>
              </a:rPr>
              <a:t>ListenHTTP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" y="2587751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9AB0CC"/>
                </a:solidFill>
                <a:latin typeface="Segoe UI"/>
              </a:rPr>
              <a:t>point d'entrée</a:t>
            </a:r>
          </a:p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9AB0CC"/>
                </a:solidFill>
                <a:latin typeface="Segoe UI"/>
              </a:rPr>
              <a:t>{snapshot_date, domains}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01368" y="2560319"/>
            <a:ext cx="59436" cy="0"/>
          </a:xfrm>
          <a:prstGeom prst="line">
            <a:avLst/>
          </a:prstGeom>
          <a:ln w="17780">
            <a:solidFill>
              <a:srgbClr val="FF7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860804" y="1874519"/>
            <a:ext cx="1298448" cy="137160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 w="1651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60804" y="1965959"/>
            <a:ext cx="12984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7A1A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15668" y="2221991"/>
            <a:ext cx="1188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9EFF7"/>
                </a:solidFill>
                <a:latin typeface="Segoe UI"/>
              </a:rPr>
              <a:t>EvaluateJsonPath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15668" y="2587751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9AB0CC"/>
                </a:solidFill>
                <a:latin typeface="Segoe UI"/>
              </a:rPr>
              <a:t>extrait la date</a:t>
            </a:r>
          </a:p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9AB0CC"/>
                </a:solidFill>
                <a:latin typeface="Segoe UI"/>
              </a:rPr>
              <a:t>AVANT l'éclatement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59252" y="2560319"/>
            <a:ext cx="59436" cy="0"/>
          </a:xfrm>
          <a:prstGeom prst="line">
            <a:avLst/>
          </a:prstGeom>
          <a:ln w="17780">
            <a:solidFill>
              <a:srgbClr val="FF7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218688" y="1874519"/>
            <a:ext cx="1298448" cy="137160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 w="1651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18688" y="1965959"/>
            <a:ext cx="12984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7A1A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73552" y="2221991"/>
            <a:ext cx="1188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9EFF7"/>
                </a:solidFill>
                <a:latin typeface="Segoe UI"/>
              </a:rPr>
              <a:t>SplitJson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73552" y="2587751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9AB0CC"/>
                </a:solidFill>
                <a:latin typeface="Segoe UI"/>
              </a:rPr>
              <a:t>1 FlowFile</a:t>
            </a:r>
          </a:p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9AB0CC"/>
                </a:solidFill>
                <a:latin typeface="Segoe UI"/>
              </a:rPr>
              <a:t>par domaine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17136" y="2560319"/>
            <a:ext cx="59436" cy="0"/>
          </a:xfrm>
          <a:prstGeom prst="line">
            <a:avLst/>
          </a:prstGeom>
          <a:ln w="17780">
            <a:solidFill>
              <a:srgbClr val="FF7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576572" y="1874519"/>
            <a:ext cx="1298448" cy="137160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 w="1651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6572" y="1965959"/>
            <a:ext cx="12984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7A1A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1436" y="2221991"/>
            <a:ext cx="1188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9EFF7"/>
                </a:solidFill>
                <a:latin typeface="Segoe UI"/>
              </a:rPr>
              <a:t>InvokeHTTP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31436" y="2587751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9AB0CC"/>
                </a:solidFill>
                <a:latin typeface="Segoe UI"/>
              </a:rPr>
              <a:t>GET #{api.base.url}</a:t>
            </a:r>
          </a:p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9AB0CC"/>
                </a:solidFill>
                <a:latin typeface="Segoe UI"/>
              </a:rPr>
              <a:t>/${domain}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875020" y="2560319"/>
            <a:ext cx="59436" cy="0"/>
          </a:xfrm>
          <a:prstGeom prst="line">
            <a:avLst/>
          </a:prstGeom>
          <a:ln w="17780">
            <a:solidFill>
              <a:srgbClr val="FF7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934456" y="1874519"/>
            <a:ext cx="1298448" cy="137160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 w="1651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34456" y="1965959"/>
            <a:ext cx="12984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7A1A"/>
                </a:solidFill>
                <a:latin typeface="Segoe U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89320" y="2221991"/>
            <a:ext cx="1188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9EFF7"/>
                </a:solidFill>
                <a:latin typeface="Segoe UI"/>
              </a:rPr>
              <a:t>RouteOnAttribute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9320" y="2587751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9AB0CC"/>
                </a:solidFill>
                <a:latin typeface="Segoe UI"/>
              </a:rPr>
              <a:t>contrôle minimal</a:t>
            </a:r>
          </a:p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9AB0CC"/>
                </a:solidFill>
                <a:latin typeface="Segoe UI"/>
              </a:rPr>
              <a:t>200 + non vide + JSON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232904" y="2560319"/>
            <a:ext cx="59436" cy="0"/>
          </a:xfrm>
          <a:prstGeom prst="line">
            <a:avLst/>
          </a:prstGeom>
          <a:ln w="17780">
            <a:solidFill>
              <a:srgbClr val="FF7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292340" y="1874519"/>
            <a:ext cx="1298448" cy="137160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 w="1651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92340" y="1965959"/>
            <a:ext cx="12984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7A1A"/>
                </a:solidFill>
                <a:latin typeface="Segoe U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204" y="2221991"/>
            <a:ext cx="1188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9EFF7"/>
                </a:solidFill>
                <a:latin typeface="Segoe UI"/>
              </a:rPr>
              <a:t>DetectDuplicate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47204" y="2587751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9AB0CC"/>
                </a:solidFill>
                <a:latin typeface="Segoe UI"/>
              </a:rPr>
              <a:t>idempotence</a:t>
            </a:r>
          </a:p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9AB0CC"/>
                </a:solidFill>
                <a:latin typeface="Segoe UI"/>
              </a:rPr>
              <a:t>domaine::date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590788" y="2560319"/>
            <a:ext cx="59436" cy="0"/>
          </a:xfrm>
          <a:prstGeom prst="line">
            <a:avLst/>
          </a:prstGeom>
          <a:ln w="17780">
            <a:solidFill>
              <a:srgbClr val="FF7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650224" y="1874519"/>
            <a:ext cx="1298448" cy="137160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 w="1651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50224" y="1965959"/>
            <a:ext cx="12984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7A1A"/>
                </a:solidFill>
                <a:latin typeface="Segoe U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05088" y="2221991"/>
            <a:ext cx="1188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9EFF7"/>
                </a:solidFill>
                <a:latin typeface="Segoe UI"/>
              </a:rPr>
              <a:t>UpdateAttribute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05088" y="2587751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9AB0CC"/>
                </a:solidFill>
                <a:latin typeface="Segoe UI"/>
              </a:rPr>
              <a:t>construit la clé</a:t>
            </a:r>
          </a:p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9AB0CC"/>
                </a:solidFill>
                <a:latin typeface="Segoe UI"/>
              </a:rPr>
              <a:t>S3 et l'horodatage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948672" y="2560319"/>
            <a:ext cx="59436" cy="0"/>
          </a:xfrm>
          <a:prstGeom prst="line">
            <a:avLst/>
          </a:prstGeom>
          <a:ln w="17780">
            <a:solidFill>
              <a:srgbClr val="FF7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10008108" y="1874519"/>
            <a:ext cx="1298448" cy="137160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 w="1651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08108" y="1965959"/>
            <a:ext cx="12984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7A1A"/>
                </a:solidFill>
                <a:latin typeface="Segoe UI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62972" y="2221991"/>
            <a:ext cx="1188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9EFF7"/>
                </a:solidFill>
                <a:latin typeface="Segoe UI"/>
              </a:rPr>
              <a:t>PutS3Object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62972" y="2587751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9AB0CC"/>
                </a:solidFill>
                <a:latin typeface="Segoe UI"/>
              </a:rPr>
              <a:t>dépôt MinIO</a:t>
            </a:r>
          </a:p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9AB0CC"/>
                </a:solidFill>
                <a:latin typeface="Segoe UI"/>
              </a:rPr>
              <a:t>path-style access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3520440"/>
            <a:ext cx="10881360" cy="822960"/>
          </a:xfrm>
          <a:prstGeom prst="roundRect">
            <a:avLst>
              <a:gd name="adj" fmla="val 8000"/>
            </a:avLst>
          </a:prstGeom>
          <a:solidFill>
            <a:srgbClr val="1E2F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3639312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6B6B"/>
                </a:solidFill>
                <a:latin typeface="Segoe UI"/>
              </a:rPr>
              <a:t>Trois chemins de reprise, aucune perte silencieuse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393192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appel API en échec → RetryFlowFile ×3 → rebut     ·     réponse non conforme → rebut     ·     dépôt S3 en échec → RetryFlowFile ×3 → rebut     ·     doublon → journalisé (ce n'est pas une erreur)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457200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9EFF7"/>
                </a:solidFill>
                <a:latin typeface="Segoe UI"/>
              </a:rPr>
              <a:t>À MONTRER DANS L'INTERFACE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4992624"/>
            <a:ext cx="100584" cy="10058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8408" y="491947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ouvrir la configuration de PutS3Object : Endpoint Override URL = http://minio:9000 — insister sur « pas localhost »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1520" y="5294376"/>
            <a:ext cx="100584" cy="10058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8408" y="522122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montrer Use Path Style Access = true : MinIO n'implémente pas le virtual-hosted style d'AWS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5596128"/>
            <a:ext cx="100584" cy="10058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8408" y="5522976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ouvrir le Parameter Context « fakestore-ingestion » : les secrets sont marqués sensibles et chiffrés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20" y="5897880"/>
            <a:ext cx="100584" cy="10058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8408" y="582472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montrer les relations sortantes d'InvokeHTTP et où elles vont (RetryFlowFile, puis file de rebut)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1520" y="6199632"/>
            <a:ext cx="100584" cy="10058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8408" y="6126480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ouvrir la console MinIO : lakehouse-raw/fakestore/products/ingest_date=… — la partition Hive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1417320"/>
          </a:xfrm>
          <a:prstGeom prst="rect">
            <a:avLst/>
          </a:prstGeom>
          <a:solidFill>
            <a:srgbClr val="4C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9EFF7"/>
                </a:solidFill>
                <a:latin typeface="Segoe UI"/>
              </a:rPr>
              <a:t>Le contrat de chaque couche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9AB0CC"/>
                </a:solidFill>
                <a:latin typeface="Segoe UI"/>
              </a:rPr>
              <a:t>Ce que chaque couche garantit — et ce qu'elle s'interdit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3520440" cy="434340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3520440" cy="658368"/>
          </a:xfrm>
          <a:prstGeom prst="roundRect">
            <a:avLst>
              <a:gd name="adj" fmla="val 8000"/>
            </a:avLst>
          </a:prstGeom>
          <a:solidFill>
            <a:srgbClr val="C0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D1522"/>
                </a:solidFill>
                <a:latin typeface="Segoe UI"/>
              </a:rPr>
              <a:t>BRONZE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75104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D1522"/>
                </a:solidFill>
                <a:latin typeface="Segoe UI"/>
              </a:rPr>
              <a:t>mémoire fidèle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505456"/>
            <a:ext cx="82296" cy="82296"/>
          </a:xfrm>
          <a:prstGeom prst="rect">
            <a:avLst/>
          </a:prstGeom>
          <a:solidFill>
            <a:srgbClr val="C0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242316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copie 1:1 de l'API, structures imbriquées conservées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072384"/>
            <a:ext cx="82296" cy="82296"/>
          </a:xfrm>
          <a:prstGeom prst="rect">
            <a:avLst/>
          </a:prstGeom>
          <a:solidFill>
            <a:srgbClr val="C0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" y="2990088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8 colonnes de traçabilité jusqu'à l'objet MinIO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639312"/>
            <a:ext cx="82296" cy="82296"/>
          </a:xfrm>
          <a:prstGeom prst="rect">
            <a:avLst/>
          </a:prstGeom>
          <a:solidFill>
            <a:srgbClr val="C0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" y="3557016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les rejets sont MARQUÉS, jamais supprimés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206240"/>
            <a:ext cx="82296" cy="82296"/>
          </a:xfrm>
          <a:prstGeom prst="rect">
            <a:avLst/>
          </a:prstGeom>
          <a:solidFill>
            <a:srgbClr val="C0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4712" y="4123944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une seule entorse : le mot de passe est haché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773168"/>
            <a:ext cx="82296" cy="82296"/>
          </a:xfrm>
          <a:prstGeom prst="rect">
            <a:avLst/>
          </a:prstGeom>
          <a:solidFill>
            <a:srgbClr val="C0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24712" y="4690872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partition : _ingest_date (jour)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5349240"/>
            <a:ext cx="3154680" cy="457200"/>
          </a:xfrm>
          <a:prstGeom prst="roundRect">
            <a:avLst>
              <a:gd name="adj" fmla="val 8000"/>
            </a:avLst>
          </a:prstGeom>
          <a:solidFill>
            <a:srgbClr val="1E2F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440680"/>
            <a:ext cx="2880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07A3E"/>
                </a:solidFill>
                <a:latin typeface="Consolas"/>
              </a:rPr>
              <a:t>raw_products · raw_users · raw_carts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600200"/>
            <a:ext cx="3520440" cy="434340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43400" y="1600200"/>
            <a:ext cx="3520440" cy="658368"/>
          </a:xfrm>
          <a:prstGeom prst="roundRect">
            <a:avLst>
              <a:gd name="adj" fmla="val 8000"/>
            </a:avLst>
          </a:prstGeom>
          <a:solidFill>
            <a:srgbClr val="9EAD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169164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D1522"/>
                </a:solidFill>
                <a:latin typeface="Segoe UI"/>
              </a:rPr>
              <a:t>SILVER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1975104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D1522"/>
                </a:solidFill>
                <a:latin typeface="Segoe UI"/>
              </a:rPr>
              <a:t>vérité métier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2505456"/>
            <a:ext cx="82296" cy="82296"/>
          </a:xfrm>
          <a:prstGeom prst="rect">
            <a:avLst/>
          </a:prstGeom>
          <a:solidFill>
            <a:srgbClr val="9EAD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82312" y="242316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typé : prix en DECIMAL(10,2), pas en DOUBLE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0" y="3072384"/>
            <a:ext cx="82296" cy="82296"/>
          </a:xfrm>
          <a:prstGeom prst="rect">
            <a:avLst/>
          </a:prstGeom>
          <a:solidFill>
            <a:srgbClr val="9EAD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82312" y="2990088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aplati : plus aucune structure imbriquée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0" y="3639312"/>
            <a:ext cx="82296" cy="82296"/>
          </a:xfrm>
          <a:prstGeom prst="rect">
            <a:avLst/>
          </a:prstGeom>
          <a:solidFill>
            <a:srgbClr val="9EAD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82312" y="3557016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dédoublonné : 1 ligne par entité et par jour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0" y="4206240"/>
            <a:ext cx="82296" cy="82296"/>
          </a:xfrm>
          <a:prstGeom prst="rect">
            <a:avLst/>
          </a:prstGeom>
          <a:solidFill>
            <a:srgbClr val="9EAD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82312" y="4123944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enrichi : segments, complétude, géo validée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4773168"/>
            <a:ext cx="82296" cy="82296"/>
          </a:xfrm>
          <a:prstGeom prst="rect">
            <a:avLst/>
          </a:prstGeom>
          <a:solidFill>
            <a:srgbClr val="9EAD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82312" y="4690872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partition : months(snapshot_date)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26280" y="5349240"/>
            <a:ext cx="3154680" cy="457200"/>
          </a:xfrm>
          <a:prstGeom prst="roundRect">
            <a:avLst>
              <a:gd name="adj" fmla="val 8000"/>
            </a:avLst>
          </a:prstGeom>
          <a:solidFill>
            <a:srgbClr val="1E2F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63440" y="5440680"/>
            <a:ext cx="2880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9EADBE"/>
                </a:solidFill>
                <a:latin typeface="Consolas"/>
              </a:rPr>
              <a:t>dim_products · dim_customers · fct_order_items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01000" y="1600200"/>
            <a:ext cx="3520440" cy="434340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001000" y="1600200"/>
            <a:ext cx="3520440" cy="658368"/>
          </a:xfrm>
          <a:prstGeom prst="roundRect">
            <a:avLst>
              <a:gd name="adj" fmla="val 8000"/>
            </a:avLst>
          </a:prstGeom>
          <a:solidFill>
            <a:srgbClr val="E0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0" y="169164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D1522"/>
                </a:solidFill>
                <a:latin typeface="Segoe UI"/>
              </a:rPr>
              <a:t>GOLD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1975104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D1522"/>
                </a:solidFill>
                <a:latin typeface="Segoe UI"/>
              </a:rPr>
              <a:t>réponses aux questions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0" y="2505456"/>
            <a:ext cx="82296" cy="82296"/>
          </a:xfrm>
          <a:prstGeom prst="rect">
            <a:avLst/>
          </a:prstGeom>
          <a:solidFill>
            <a:srgbClr val="E0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39912" y="242316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agrégats prêts à lire — aucun calcul côté BI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3072384"/>
            <a:ext cx="82296" cy="82296"/>
          </a:xfrm>
          <a:prstGeom prst="rect">
            <a:avLst/>
          </a:prstGeom>
          <a:solidFill>
            <a:srgbClr val="E0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39912" y="2990088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jointures inter-domaines matérialisées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0" y="3639312"/>
            <a:ext cx="82296" cy="82296"/>
          </a:xfrm>
          <a:prstGeom prst="rect">
            <a:avLst/>
          </a:prstGeom>
          <a:solidFill>
            <a:srgbClr val="E0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39912" y="3557016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moyennes mobiles, RFM, tendances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0" y="4206240"/>
            <a:ext cx="82296" cy="82296"/>
          </a:xfrm>
          <a:prstGeom prst="rect">
            <a:avLst/>
          </a:prstGeom>
          <a:solidFill>
            <a:srgbClr val="E0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39912" y="4123944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recalcul complet → nouveau snapshot Iceberg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4773168"/>
            <a:ext cx="82296" cy="82296"/>
          </a:xfrm>
          <a:prstGeom prst="rect">
            <a:avLst/>
          </a:prstGeom>
          <a:solidFill>
            <a:srgbClr val="E0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39912" y="4690872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l'intégrité référentielle est un indicateur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83880" y="5349240"/>
            <a:ext cx="3154680" cy="457200"/>
          </a:xfrm>
          <a:prstGeom prst="roundRect">
            <a:avLst>
              <a:gd name="adj" fmla="val 8000"/>
            </a:avLst>
          </a:prstGeom>
          <a:solidFill>
            <a:srgbClr val="1E2F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21040" y="5440680"/>
            <a:ext cx="2880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E0B44A"/>
                </a:solidFill>
                <a:latin typeface="Consolas"/>
              </a:rPr>
              <a:t>catalog_kpi · price_trend · sales_daily · customer_360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632764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AB0CC"/>
                </a:solidFill>
                <a:latin typeface="Segoe UI"/>
              </a:rPr>
              <a:t>Idempotence à tous les étages : comparaison d'ensembles de dates + overwritePartitions — un rejeu ne duplique rien.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6327648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AB0CC"/>
                </a:solidFill>
                <a:latin typeface="Segoe UI"/>
              </a:rPr>
              <a:t>spark/jobs/ · docs/architecture.md §5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1417320"/>
          </a:xfrm>
          <a:prstGeom prst="rect">
            <a:avLst/>
          </a:prstGeom>
          <a:solidFill>
            <a:srgbClr val="F2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9EFF7"/>
                </a:solidFill>
                <a:latin typeface="Segoe UI"/>
              </a:rPr>
              <a:t>Reconstituer 6 mois d'historique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9AB0CC"/>
                </a:solidFill>
                <a:latin typeface="Segoe UI"/>
              </a:rPr>
              <a:t>La contrainte la plus intéressante du sujet — §4.1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835640" cy="141732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64008" cy="1417320"/>
          </a:xfrm>
          <a:prstGeom prst="rect">
            <a:avLst/>
          </a:prstGeom>
          <a:solidFill>
            <a:srgbClr val="F2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10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26B6B"/>
                </a:solidFill>
                <a:latin typeface="Segoe UI"/>
              </a:rPr>
              <a:t>LE PROBLÈME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176272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B0CC"/>
                </a:solidFill>
                <a:latin typeface="Segoe UI"/>
              </a:rPr>
              <a:t>FakeStoreAPI ne renvoie que l'état courant : aucun champ de date sur /products ni /users, et seulement 7 paniers figés sur /carts.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B0CC"/>
                </a:solidFill>
                <a:latin typeface="Segoe UI"/>
              </a:rPr>
              <a:t>Ingérer 180 fois la même réponse produit un historique techniquement conforme, mais analytiquement mort — toutes les courbes seraient plates.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337560"/>
            <a:ext cx="5257800" cy="265176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52044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9EFF7"/>
                </a:solidFill>
                <a:latin typeface="Segoe UI"/>
              </a:rPr>
              <a:t>Deux réponses faciles, et pourquoi je les ai écartées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93192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26B6B"/>
                </a:solidFill>
                <a:latin typeface="Segoe UI"/>
              </a:rPr>
              <a:t>✕  Ingérer 180 fois à l'identique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422452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conforme à la lettre, sans aucune valeur analytique — aucune tendance à observer en Gold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93776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26B6B"/>
                </a:solidFill>
                <a:latin typeface="Segoe UI"/>
              </a:rPr>
              <a:t>✕  Générer des données de toutes pièces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5230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trahit la contrainte « données issues de FakeStoreAPI » et rend le résultat indéfendable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337560"/>
            <a:ext cx="5257800" cy="265176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52044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5AD18B"/>
                </a:solidFill>
                <a:latin typeface="Segoe UI"/>
              </a:rPr>
              <a:t>Les deux propriétés que je me suis imposées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93192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AD18B"/>
                </a:solidFill>
                <a:latin typeface="Segoe UI"/>
              </a:rPr>
              <a:t>✓  Déterminisme absolu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30568" y="4224528"/>
            <a:ext cx="4480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aucune fonction aléatoire — tout dérive de hash(clé | date | graine). Deux exécutions produisent le même historique, le pipeline reste idempotent.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93776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AD18B"/>
                </a:solidFill>
                <a:latin typeface="Segoe UI"/>
              </a:rPr>
              <a:t>✓  Ancrage sur le réel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0568" y="5230368"/>
            <a:ext cx="4480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la valeur renvoyée aujourd'hui est le POINT D'ARRIVÉE ; le modèle rétro-projette le passé. Sur la dernière date, le facteur vaut exactement 1,0.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1417320"/>
          </a:xfrm>
          <a:prstGeom prst="rect">
            <a:avLst/>
          </a:prstGeom>
          <a:solidFill>
            <a:srgbClr val="5AD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9EFF7"/>
                </a:solidFill>
                <a:latin typeface="Segoe UI"/>
              </a:rPr>
              <a:t>Trois niveaux, du plus réel au plus reconstruit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9AB0CC"/>
                </a:solidFill>
                <a:latin typeface="Segoe UI"/>
              </a:rPr>
              <a:t>Le lakehouse ne ment jamais sur la nature d'une donnée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72768"/>
            <a:ext cx="10835640" cy="1207008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64008" cy="1207008"/>
          </a:xfrm>
          <a:prstGeom prst="rect">
            <a:avLst/>
          </a:prstGeom>
          <a:solidFill>
            <a:srgbClr val="5AD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1691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5AD18B"/>
                </a:solidFill>
                <a:latin typeface="Segoe UI"/>
              </a:rPr>
              <a:t>NIVEAU 1 — HISTORISATION RÉELLE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66960" y="169164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1E2F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0" y="17282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5AD18B"/>
                </a:solidFill>
                <a:latin typeface="Segoe UI"/>
              </a:rPr>
              <a:t>toujours actif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01168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9EFF7"/>
                </a:solidFill>
                <a:latin typeface="Segoe UI"/>
              </a:rPr>
              <a:t>NiFi est déclenché une fois par date logique sur 180 jours. Chaque itération est un VRAI appel HTTP, horodaté, rangé dans sa propre partition ingest_date=.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468880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9AB0CC"/>
                </a:solidFill>
                <a:latin typeface="Segoe UI"/>
              </a:rPr>
              <a:t>180 snapshots authentiques en Bronze — c'est ce niveau qui satisfait littéralement la contrainte.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898648"/>
            <a:ext cx="10835640" cy="1207008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898648"/>
            <a:ext cx="64008" cy="120700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017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C4B6"/>
                </a:solidFill>
                <a:latin typeface="Segoe UI"/>
              </a:rPr>
              <a:t>NIVEAU 2 — HORODATAGE REDISTRIBUÉ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66960" y="301752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1E2F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60" y="30540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2EC4B6"/>
                </a:solidFill>
                <a:latin typeface="Segoe UI"/>
              </a:rPr>
              <a:t>toujours actif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333756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9EFF7"/>
                </a:solidFill>
                <a:latin typeface="Segoe UI"/>
              </a:rPr>
              <a:t>Les 7 paniers de /carts portent une vraie date, mais figée en 2019-2020. Elle est projetée de façon déterministe sur la fenêtre des 6 mois.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3794760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9AB0CC"/>
                </a:solidFill>
                <a:latin typeface="Segoe UI"/>
              </a:rPr>
              <a:t>Les enregistrements restent réels ; seule leur position dans le temps est recalculée.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224528"/>
            <a:ext cx="10835640" cy="1207008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4224528"/>
            <a:ext cx="64008" cy="1207008"/>
          </a:xfrm>
          <a:prstGeom prst="rect">
            <a:avLst/>
          </a:prstGeom>
          <a:solidFill>
            <a:srgbClr val="E0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43434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0B44A"/>
                </a:solidFill>
                <a:latin typeface="Segoe UI"/>
              </a:rPr>
              <a:t>NIVEAU 3 — DÉRIVE SYNTHÉTIQUE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434340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1E2F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437997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0B44A"/>
                </a:solidFill>
                <a:latin typeface="Segoe UI"/>
              </a:rPr>
              <a:t>désactivable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" y="466344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9EFF7"/>
                </a:solidFill>
                <a:latin typeface="Segoe UI"/>
              </a:rPr>
              <a:t>Un modèle déterministe applique une dérive aux mesures : indice de prix (tendance + saisonnalité trimestrielle + bruit produit) et croissance du cumul d'avis.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5120640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9AB0CC"/>
                </a:solidFill>
                <a:latin typeface="Segoe UI"/>
              </a:rPr>
              <a:t>SYNTHETIC_HISTORY_ENABLED=false coupe ce niveau : le pipeline tourne, les courbes s'aplatissent.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577840"/>
            <a:ext cx="10835640" cy="777240"/>
          </a:xfrm>
          <a:prstGeom prst="roundRect">
            <a:avLst>
              <a:gd name="adj" fmla="val 8000"/>
            </a:avLst>
          </a:prstGeom>
          <a:solidFill>
            <a:srgbClr val="1E2F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66928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9EFF7"/>
                </a:solidFill>
                <a:latin typeface="Segoe UI"/>
              </a:rPr>
              <a:t>La donnée porte toujours sa nature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971032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EC4B6"/>
                </a:solidFill>
                <a:latin typeface="Consolas"/>
              </a:rPr>
              <a:t>is_reconstructed  ·  unit_price_observed (mesure brute) à côté de unit_price (mesure historisée)  ·  template_cart_id (le panier réel d'origine)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"/>
            <a:ext cx="6400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D1522"/>
                </a:solidFill>
                <a:latin typeface="Segoe UI"/>
              </a:rPr>
              <a:t>À L'ÉCRAN — DÉMONSTRATION 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45720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0D1522"/>
                </a:solidFill>
                <a:latin typeface="Segoe UI"/>
              </a:rPr>
              <a:t>Séquence 4 · 2 à 3 min — 4 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9EFF7"/>
                </a:solidFill>
                <a:latin typeface="Segoe UI"/>
              </a:rPr>
              <a:t>Les jobs Spark du médaillon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4CA5FF"/>
                </a:solidFill>
                <a:latin typeface="Segoe UI"/>
              </a:rPr>
              <a:t>VS Code — spark/jobs/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835640" cy="603504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737360"/>
            <a:ext cx="64008" cy="60350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01368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Consolas"/>
              </a:rPr>
              <a:t>common/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AB0CC"/>
                </a:solidFill>
                <a:latin typeface="Segoe UI"/>
              </a:rPr>
              <a:t>session · schemas · history · incremental · writer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911096"/>
            <a:ext cx="6949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9EFF7"/>
                </a:solidFill>
                <a:latin typeface="Segoe UI"/>
              </a:rPr>
              <a:t>le socle : rien n'est dupliqué d'un job à l'autre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395728"/>
            <a:ext cx="10835640" cy="603504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395728"/>
            <a:ext cx="64008" cy="603504"/>
          </a:xfrm>
          <a:prstGeom prst="rect">
            <a:avLst/>
          </a:prstGeom>
          <a:solidFill>
            <a:srgbClr val="C0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59736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07A3E"/>
                </a:solidFill>
                <a:latin typeface="Consolas"/>
              </a:rPr>
              <a:t>bronze/bronze_ingest.py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715768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AB0CC"/>
                </a:solidFill>
                <a:latin typeface="Segoe UI"/>
              </a:rPr>
              <a:t>un seul job, paramétré par --domain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569464"/>
            <a:ext cx="6949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9EFF7"/>
                </a:solidFill>
                <a:latin typeface="Segoe UI"/>
              </a:rPr>
              <a:t>schéma explicite, PERMISSIVE, colonnes techniques, overwritePartitions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054096"/>
            <a:ext cx="10835640" cy="603504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054096"/>
            <a:ext cx="64008" cy="603504"/>
          </a:xfrm>
          <a:prstGeom prst="rect">
            <a:avLst/>
          </a:prstGeom>
          <a:solidFill>
            <a:srgbClr val="9EAD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118104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9EADBE"/>
                </a:solidFill>
                <a:latin typeface="Consolas"/>
              </a:rPr>
              <a:t>silver/silver_products.py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374136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AB0CC"/>
                </a:solidFill>
                <a:latin typeface="Segoe UI"/>
              </a:rPr>
              <a:t>dédoublonnage + typage + historisation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3227832"/>
            <a:ext cx="6949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9EFF7"/>
                </a:solidFill>
                <a:latin typeface="Segoe UI"/>
              </a:rPr>
              <a:t>montrer la fenêtre row_number() et le facteur de prix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712464"/>
            <a:ext cx="10835640" cy="603504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712464"/>
            <a:ext cx="64008" cy="603504"/>
          </a:xfrm>
          <a:prstGeom prst="rect">
            <a:avLst/>
          </a:prstGeom>
          <a:solidFill>
            <a:srgbClr val="9EAD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776472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9EADBE"/>
                </a:solidFill>
                <a:latin typeface="Consolas"/>
              </a:rPr>
              <a:t>silver/silver_orders.py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032504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AB0CC"/>
                </a:solidFill>
                <a:latin typeface="Segoe UI"/>
              </a:rPr>
              <a:t>génération du flux de commandes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3886200"/>
            <a:ext cx="6949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9EFF7"/>
                </a:solidFill>
                <a:latin typeface="Segoe UI"/>
              </a:rPr>
              <a:t>le job le plus délicat : réel vs reconstruit, traçabilité conservée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370832"/>
            <a:ext cx="10835640" cy="603504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" y="4370832"/>
            <a:ext cx="64008" cy="603504"/>
          </a:xfrm>
          <a:prstGeom prst="rect">
            <a:avLst/>
          </a:prstGeom>
          <a:solidFill>
            <a:srgbClr val="E0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434840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B44A"/>
                </a:solidFill>
                <a:latin typeface="Consolas"/>
              </a:rPr>
              <a:t>gold/gold_sales_daily.py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690872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AB0CC"/>
                </a:solidFill>
                <a:latin typeface="Segoe UI"/>
              </a:rPr>
              <a:t>JOINTURE INTER-DOMAINES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4544568"/>
            <a:ext cx="6949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9EFF7"/>
                </a:solidFill>
                <a:latin typeface="Segoe UI"/>
              </a:rPr>
              <a:t>la jointure est TEMPORELLE — c'est le point à expliquer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029200"/>
            <a:ext cx="10835640" cy="603504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" y="5029200"/>
            <a:ext cx="64008" cy="603504"/>
          </a:xfrm>
          <a:prstGeom prst="rect">
            <a:avLst/>
          </a:prstGeom>
          <a:solidFill>
            <a:srgbClr val="A9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5093208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A98BFF"/>
                </a:solidFill>
                <a:latin typeface="Consolas"/>
              </a:rPr>
              <a:t>maintenance/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34924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AB0CC"/>
                </a:solidFill>
                <a:latin typeface="Segoe UI"/>
              </a:rPr>
              <a:t>qualité · compaction · démo Iceberg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43400" y="5202936"/>
            <a:ext cx="6949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9EFF7"/>
                </a:solidFill>
                <a:latin typeface="Segoe UI"/>
              </a:rPr>
              <a:t>7 contrôles dont la réconciliation croisée entre deux tables Gold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5806440"/>
            <a:ext cx="10835640" cy="603504"/>
          </a:xfrm>
          <a:prstGeom prst="roundRect">
            <a:avLst>
              <a:gd name="adj" fmla="val 8000"/>
            </a:avLst>
          </a:prstGeom>
          <a:solidFill>
            <a:srgbClr val="1E2F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5888736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B44A"/>
                </a:solidFill>
                <a:latin typeface="Segoe UI"/>
              </a:rPr>
              <a:t>LE POINT À NE PAS MANQUER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144768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9EFF7"/>
                </a:solidFill>
                <a:latin typeface="Consolas"/>
              </a:rPr>
              <a:t>p.snapshot_date = o.order_date  —  chaque ligne de commande est valorisée au prix EN VIGUEUR LE JOUR DE LA COMMANDE, pas au prix d'aujourd'hui.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"/>
            <a:ext cx="6400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D1522"/>
                </a:solidFill>
                <a:latin typeface="Segoe UI"/>
              </a:rPr>
              <a:t>À L'ÉCRAN — DÉMONSTRATION 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45720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0D1522"/>
                </a:solidFill>
                <a:latin typeface="Segoe UI"/>
              </a:rPr>
              <a:t>Séquence 5 · 2 à 3 min — 3 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9EFF7"/>
                </a:solidFill>
                <a:latin typeface="Segoe UI"/>
              </a:rPr>
              <a:t>Test du moteur de requête Dremio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A98BFF"/>
                </a:solidFill>
                <a:latin typeface="Segoe UI"/>
              </a:rPr>
              <a:t>http://localhost:9047 — source « lakehouse » (Nessie)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91640"/>
            <a:ext cx="10835640" cy="420624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83080"/>
            <a:ext cx="502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Consolas"/>
              </a:rPr>
              <a:t>Q0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773936"/>
            <a:ext cx="4206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E9EFF7"/>
                </a:solidFill>
                <a:latin typeface="Segoe UI"/>
              </a:rPr>
              <a:t>Inventaire du catalogue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1792224"/>
            <a:ext cx="5303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B0CC"/>
                </a:solidFill>
                <a:latin typeface="Segoe UI"/>
              </a:rPr>
              <a:t>les 3 couches visibles sans déclaration manuelle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148840"/>
            <a:ext cx="10835640" cy="420624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240280"/>
            <a:ext cx="502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07A3E"/>
                </a:solidFill>
                <a:latin typeface="Consolas"/>
              </a:rPr>
              <a:t>Q1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231136"/>
            <a:ext cx="4206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E9EFF7"/>
                </a:solidFill>
                <a:latin typeface="Segoe UI"/>
              </a:rPr>
              <a:t>BRONZE — raw_products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2249424"/>
            <a:ext cx="5303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B0CC"/>
                </a:solidFill>
                <a:latin typeface="Segoe UI"/>
              </a:rPr>
              <a:t>structure brute + traçabilité jusqu'à l'objet MinIO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606040"/>
            <a:ext cx="10835640" cy="420624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697480"/>
            <a:ext cx="502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9EADBE"/>
                </a:solidFill>
                <a:latin typeface="Consolas"/>
              </a:rPr>
              <a:t>Q2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688336"/>
            <a:ext cx="4206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E9EFF7"/>
                </a:solidFill>
                <a:latin typeface="Segoe UI"/>
              </a:rPr>
              <a:t>SILVER — dim_products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2706624"/>
            <a:ext cx="5303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B0CC"/>
                </a:solidFill>
                <a:latin typeface="Segoe UI"/>
              </a:rPr>
              <a:t>typé, aplati, enrichi — mesure brute conservée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063240"/>
            <a:ext cx="10835640" cy="420624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154680"/>
            <a:ext cx="502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B44A"/>
                </a:solidFill>
                <a:latin typeface="Consolas"/>
              </a:rPr>
              <a:t>Q3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145536"/>
            <a:ext cx="4206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E9EFF7"/>
                </a:solidFill>
                <a:latin typeface="Segoe UI"/>
              </a:rPr>
              <a:t>GOLD — gold_catalog_daily_kpi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163824"/>
            <a:ext cx="5303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B0CC"/>
                </a:solidFill>
                <a:latin typeface="Segoe UI"/>
              </a:rPr>
              <a:t>30 jours d'indicateurs, aucun calcul dans la requête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520440"/>
            <a:ext cx="10835640" cy="420624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611880"/>
            <a:ext cx="502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A98BFF"/>
                </a:solidFill>
                <a:latin typeface="Consolas"/>
              </a:rPr>
              <a:t>Q4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602736"/>
            <a:ext cx="4206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E9EFF7"/>
                </a:solidFill>
                <a:latin typeface="Segoe UI"/>
              </a:rPr>
              <a:t>JOINTURE — commandes × produits × clients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9320" y="3621024"/>
            <a:ext cx="5303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B0CC"/>
                </a:solidFill>
                <a:latin typeface="Segoe UI"/>
              </a:rPr>
              <a:t>exigence 5.3 — jointure temporelle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977640"/>
            <a:ext cx="10835640" cy="420624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4069080"/>
            <a:ext cx="502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A98BFF"/>
                </a:solidFill>
                <a:latin typeface="Consolas"/>
              </a:rPr>
              <a:t>Q5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059936"/>
            <a:ext cx="4206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E9EFF7"/>
                </a:solidFill>
                <a:latin typeface="Segoe UI"/>
              </a:rPr>
              <a:t>JOINTURE + agrégation par ville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9320" y="4078224"/>
            <a:ext cx="5303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B0CC"/>
                </a:solidFill>
                <a:latin typeface="Segoe UI"/>
              </a:rPr>
              <a:t>quelles villes achètent quelles catégories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434840"/>
            <a:ext cx="10835640" cy="420624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526280"/>
            <a:ext cx="502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AD18B"/>
                </a:solidFill>
                <a:latin typeface="Consolas"/>
              </a:rPr>
              <a:t>Q6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54480" y="4517136"/>
            <a:ext cx="4206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E9EFF7"/>
                </a:solidFill>
                <a:latin typeface="Segoe UI"/>
              </a:rPr>
              <a:t>AGRÉGATION — CA mensuel par catégorie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4535424"/>
            <a:ext cx="5303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B0CC"/>
                </a:solidFill>
                <a:latin typeface="Segoe UI"/>
              </a:rPr>
              <a:t>exigence 5.4 — les 6 mois d'historique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4892040"/>
            <a:ext cx="10835640" cy="420624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4983480"/>
            <a:ext cx="502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AD18B"/>
                </a:solidFill>
                <a:latin typeface="Consolas"/>
              </a:rPr>
              <a:t>Q7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4974336"/>
            <a:ext cx="4206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E9EFF7"/>
                </a:solidFill>
                <a:latin typeface="Segoe UI"/>
              </a:rPr>
              <a:t>AGRÉGATION — segmentation RFM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9320" y="4992624"/>
            <a:ext cx="5303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B0CC"/>
                </a:solidFill>
                <a:latin typeface="Segoe UI"/>
              </a:rPr>
              <a:t>seconde table Gold à jointure inter-domaines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5800" y="5349240"/>
            <a:ext cx="10835640" cy="420624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6968" y="5440680"/>
            <a:ext cx="502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7A1A"/>
                </a:solidFill>
                <a:latin typeface="Consolas"/>
              </a:rPr>
              <a:t>Q8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54480" y="5431536"/>
            <a:ext cx="4206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E9EFF7"/>
                </a:solidFill>
                <a:latin typeface="Segoe UI"/>
              </a:rPr>
              <a:t>BONUS — tendance tarifaire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9320" y="5449824"/>
            <a:ext cx="5303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AB0CC"/>
                </a:solidFill>
                <a:latin typeface="Segoe UI"/>
              </a:rPr>
              <a:t>impossible sans les 180 snapshots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" y="5897880"/>
            <a:ext cx="10835640" cy="512064"/>
          </a:xfrm>
          <a:prstGeom prst="roundRect">
            <a:avLst>
              <a:gd name="adj" fmla="val 8000"/>
            </a:avLst>
          </a:prstGeom>
          <a:solidFill>
            <a:srgbClr val="1E2F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120" y="601675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AD18B"/>
                </a:solidFill>
                <a:latin typeface="Consolas"/>
              </a:rPr>
              <a:t>make dremio-test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6035040"/>
            <a:ext cx="79552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joue les 10 requêtes, affiche les résultats et rend un verdict — la preuve est industrialisée, pas improvisée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"/>
            <a:ext cx="6400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D1522"/>
                </a:solidFill>
                <a:latin typeface="Segoe UI"/>
              </a:rPr>
              <a:t>À L'ÉCRAN — DÉMONSTRATION 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45720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0D1522"/>
                </a:solidFill>
                <a:latin typeface="Segoe UI"/>
              </a:rPr>
              <a:t>Séquence 6 · 2 à 3 min — 3 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9EFF7"/>
                </a:solidFill>
                <a:latin typeface="Segoe UI"/>
              </a:rPr>
              <a:t>Démonstration de bout en 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5AD18B"/>
                </a:solidFill>
                <a:latin typeface="Segoe UI"/>
              </a:rPr>
              <a:t>Un appel API par NiFi jusqu'à une table Gold interrogeable dans Dremio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10835640" cy="54864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" y="1901952"/>
            <a:ext cx="310896" cy="310896"/>
          </a:xfrm>
          <a:prstGeom prst="ellipse">
            <a:avLst/>
          </a:prstGeom>
          <a:solidFill>
            <a:srgbClr val="4C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47672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D1522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92938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4CA5FF"/>
                </a:solidFill>
                <a:latin typeface="Segoe UI"/>
              </a:rPr>
              <a:t>Airflow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947672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déclencher fakestore_daily_ingestion — montrer le graphe du DAG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423160"/>
            <a:ext cx="10835640" cy="54864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0392" y="2542032"/>
            <a:ext cx="310896" cy="310896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2587752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D1522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5694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7A1A"/>
                </a:solidFill>
                <a:latin typeface="Segoe UI"/>
              </a:rPr>
              <a:t>NiFi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587752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les compteurs des processeurs s'incrémentent en direct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063240"/>
            <a:ext cx="10835640" cy="54864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0392" y="3182112"/>
            <a:ext cx="310896" cy="3108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3227832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D1522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4168" y="320954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C4B6"/>
                </a:solidFill>
                <a:latin typeface="Segoe UI"/>
              </a:rPr>
              <a:t>MinIO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227832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rafraîchir : le nouvel objet JSON apparaît dans ingest_date=&lt;aujourd'hui&gt;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703320"/>
            <a:ext cx="10835640" cy="54864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50392" y="3822192"/>
            <a:ext cx="310896" cy="310896"/>
          </a:xfrm>
          <a:prstGeom prst="ellipse">
            <a:avLst/>
          </a:prstGeom>
          <a:solidFill>
            <a:srgbClr val="4C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" y="3867912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D1522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4168" y="384962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4CA5FF"/>
                </a:solidFill>
                <a:latin typeface="Segoe UI"/>
              </a:rPr>
              <a:t>Airflow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3867912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lakehouse_medallion démarre automatiquement (TriggerDagRunOperator)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343400"/>
            <a:ext cx="10835640" cy="54864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0392" y="4462272"/>
            <a:ext cx="310896" cy="310896"/>
          </a:xfrm>
          <a:prstGeom prst="ellipse">
            <a:avLst/>
          </a:prstGeom>
          <a:solidFill>
            <a:srgbClr val="4C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4507992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D1522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4168" y="448970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4CA5FF"/>
                </a:solidFill>
                <a:latin typeface="Segoe UI"/>
              </a:rPr>
              <a:t>Spark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4507992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l'interface du master montre l'application en cours d'exécution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4983480"/>
            <a:ext cx="10835640" cy="54864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0392" y="5102352"/>
            <a:ext cx="310896" cy="310896"/>
          </a:xfrm>
          <a:prstGeom prst="ellipse">
            <a:avLst/>
          </a:prstGeom>
          <a:solidFill>
            <a:srgbClr val="4C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0392" y="5148072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D1522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12978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4CA5FF"/>
                </a:solidFill>
                <a:latin typeface="Segoe UI"/>
              </a:rPr>
              <a:t>Airflow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148072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les tâches passent au vert : bronze → silver → gold → contrôles qualité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5623560"/>
            <a:ext cx="10835640" cy="54864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0392" y="5742432"/>
            <a:ext cx="310896" cy="310896"/>
          </a:xfrm>
          <a:prstGeom prst="ellipse">
            <a:avLst/>
          </a:prstGeom>
          <a:solidFill>
            <a:srgbClr val="A9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0392" y="5788152"/>
            <a:ext cx="31089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D1522"/>
                </a:solidFill>
                <a:latin typeface="Segoe UI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44168" y="57698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98BFF"/>
                </a:solidFill>
                <a:latin typeface="Segoe UI"/>
              </a:rPr>
              <a:t>Dremio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34640" y="5788152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rejouer Q3 ou Q6 : la nouvelle date est là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6263640"/>
            <a:ext cx="10835640" cy="18288"/>
          </a:xfrm>
          <a:prstGeom prst="rect">
            <a:avLst/>
          </a:prstGeom>
          <a:solidFill>
            <a:srgbClr val="1E2F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638251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9AB0CC"/>
                </a:solidFill>
                <a:latin typeface="Segoe UI"/>
              </a:rPr>
              <a:t>Filet de sécurité : si le temps manque, déclencher l'ingestion au curl et montrer directement MinIO puis Dremio.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1417320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9EFF7"/>
                </a:solidFill>
                <a:latin typeface="Segoe UI"/>
              </a:rPr>
              <a:t>Bonus réalisés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9AB0CC"/>
                </a:solidFill>
                <a:latin typeface="Segoe UI"/>
              </a:rPr>
              <a:t>Les cinq propositions de la Partie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10835640" cy="804672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64008" cy="804672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177393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7A1A"/>
                </a:solidFill>
                <a:latin typeface="Segoe UI"/>
              </a:rPr>
              <a:t>Supervision NiFi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1755648"/>
            <a:ext cx="7040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PrometheusReportingTask créée par script, panneau « débit d'ingestion » dans le dashboard Grafana provisionné automatiquement.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60320"/>
            <a:ext cx="10835640" cy="804672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560320"/>
            <a:ext cx="64008" cy="80467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68833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C4B6"/>
                </a:solidFill>
                <a:latin typeface="Segoe UI"/>
              </a:rPr>
              <a:t>Idempotence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670048"/>
            <a:ext cx="7040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DetectDuplicate + DistributedMapCache côté NiFi (clé domaine::date), et overwritePartitions côté Spark. Double filet.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74720"/>
            <a:ext cx="10835640" cy="804672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474720"/>
            <a:ext cx="64008" cy="804672"/>
          </a:xfrm>
          <a:prstGeom prst="rect">
            <a:avLst/>
          </a:prstGeom>
          <a:solidFill>
            <a:srgbClr val="4C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360273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4CA5FF"/>
                </a:solidFill>
                <a:latin typeface="Segoe UI"/>
              </a:rPr>
              <a:t>Troisième domaine — commandes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3584448"/>
            <a:ext cx="7040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/carts exploité en fct_order_items, puis en gold_sales_by_category_daily et gold_customer_360.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389120"/>
            <a:ext cx="10835640" cy="804672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389120"/>
            <a:ext cx="64008" cy="804672"/>
          </a:xfrm>
          <a:prstGeom prst="rect">
            <a:avLst/>
          </a:prstGeom>
          <a:solidFill>
            <a:srgbClr val="A9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451713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98BFF"/>
                </a:solidFill>
                <a:latin typeface="Segoe UI"/>
              </a:rPr>
              <a:t>Process Group paramétrable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4498848"/>
            <a:ext cx="7040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Parameter Context « fakestore-ingestion » : changer #{api.base.url} suffit à brancher le flow sur une autre API.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303520"/>
            <a:ext cx="10835640" cy="804672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5303520"/>
            <a:ext cx="64008" cy="804672"/>
          </a:xfrm>
          <a:prstGeom prst="rect">
            <a:avLst/>
          </a:prstGeom>
          <a:solidFill>
            <a:srgbClr val="E0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" y="543153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0B44A"/>
                </a:solidFill>
                <a:latin typeface="Segoe UI"/>
              </a:rPr>
              <a:t>Iceberg avancé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5413248"/>
            <a:ext cx="7040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demo_iceberg_features.py : time travel (VERSION AS OF / TIMESTAMP AS OF), schema evolution sans réécriture, et branches Nessie.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6263640"/>
            <a:ext cx="10835640" cy="18288"/>
          </a:xfrm>
          <a:prstGeom prst="rect">
            <a:avLst/>
          </a:prstGeom>
          <a:solidFill>
            <a:srgbClr val="1E2F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8251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AD18B"/>
                </a:solidFill>
                <a:latin typeface="Consolas"/>
              </a:rPr>
              <a:t>make demo-iceberg  —  joue les quatre démonstrations Iceberg / Nessie en une commande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1417320"/>
          </a:xfrm>
          <a:prstGeom prst="rect">
            <a:avLst/>
          </a:prstGeom>
          <a:solidFill>
            <a:srgbClr val="F2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9EFF7"/>
                </a:solidFill>
                <a:latin typeface="Segoe UI"/>
              </a:rPr>
              <a:t>Difficultés rencontrées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9AB0CC"/>
                </a:solidFill>
                <a:latin typeface="Segoe UI"/>
              </a:rPr>
              <a:t>Et comment je les ai traitées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10835640" cy="384048"/>
          </a:xfrm>
          <a:prstGeom prst="rect">
            <a:avLst/>
          </a:prstGeom>
          <a:solidFill>
            <a:srgbClr val="1E2F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1682496"/>
            <a:ext cx="39346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9EFF7"/>
                </a:solidFill>
                <a:latin typeface="Segoe UI"/>
              </a:rPr>
              <a:t>Difficulté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1359" y="1682496"/>
            <a:ext cx="6535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9EFF7"/>
                </a:solidFill>
                <a:latin typeface="Segoe UI"/>
              </a:rPr>
              <a:t>Résolution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984248"/>
            <a:ext cx="10835640" cy="402336"/>
          </a:xfrm>
          <a:prstGeom prst="rect">
            <a:avLst/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" y="2066544"/>
            <a:ext cx="393466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NiFi 1.28 impose HTTPS + utilisateur généré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1359" y="2066544"/>
            <a:ext cx="653521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Bascule HTTP par NIFI_WEB_HTTP_PORT — justifiée ; procédure docker logs documentée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2468880"/>
            <a:ext cx="393466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localhost dans l'endpoint S3 du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1359" y="2468880"/>
            <a:ext cx="653521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Nom de service Docker ; contrôle automatisé dans verifier_projet.py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788920"/>
            <a:ext cx="10835640" cy="402336"/>
          </a:xfrm>
          <a:prstGeom prst="rect">
            <a:avLst/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2871216"/>
            <a:ext cx="393466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MinIO refuse le virtual-hosted style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1359" y="2871216"/>
            <a:ext cx="653521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path-style access activé côté NiFi, Spark ET Dremio — les trois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" y="3273552"/>
            <a:ext cx="393466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Deux chemins d'accès à S3 dans Spark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1359" y="3273552"/>
            <a:ext cx="653521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s3a pour les JSON bruts, S3FileIO pour Iceberg — configurés séparément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593592"/>
            <a:ext cx="10835640" cy="402336"/>
          </a:xfrm>
          <a:prstGeom prst="rect">
            <a:avLst/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3675888"/>
            <a:ext cx="393466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Compatibilité Spark / Iceberg / Nessie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1359" y="3675888"/>
            <a:ext cx="653521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Matrice figée, JARs embarqués dans l'image plutôt que --packages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4078224"/>
            <a:ext cx="393466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Driver Spark côté Airflow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1359" y="4078224"/>
            <a:ext cx="653521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Image Airflow custom : JRE 17 + distribution Spark identique au cluster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398264"/>
            <a:ext cx="10835640" cy="402336"/>
          </a:xfrm>
          <a:prstGeom prst="rect">
            <a:avLst/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4480560"/>
            <a:ext cx="393466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Historique plat sur une API sans dimension temporelle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1359" y="4480560"/>
            <a:ext cx="653521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Modèle d'historisation déterministe à trois niveaux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" y="4882896"/>
            <a:ext cx="393466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Multiplication de petits fichiers Parquet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1359" y="4882896"/>
            <a:ext cx="653521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Partition mensuelle en Silver + job de compaction Iceberg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5202936"/>
            <a:ext cx="10835640" cy="402336"/>
          </a:xfrm>
          <a:prstGeom prst="rect">
            <a:avLst/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3816" y="5285232"/>
            <a:ext cx="393466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180 DAG runs illisibles en démonstration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1359" y="5285232"/>
            <a:ext cx="653521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Boucle unique avec reprise sur les dates déjà ingérées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1417320"/>
          </a:xfrm>
          <a:prstGeom prst="rect">
            <a:avLst/>
          </a:prstGeom>
          <a:solidFill>
            <a:srgbClr val="5AD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9EFF7"/>
                </a:solidFill>
                <a:latin typeface="Segoe UI"/>
              </a:rPr>
              <a:t>Bilan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9AB0CC"/>
                </a:solidFill>
                <a:latin typeface="Segoe UI"/>
              </a:rPr>
              <a:t>Ce que la plateforme démontre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1691640" cy="137160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691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FF7A1A"/>
                </a:solidFill>
                <a:latin typeface="Segoe U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1691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services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conteneurisés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1600200"/>
            <a:ext cx="1691640" cy="137160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4600" y="1783080"/>
            <a:ext cx="1691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FF7A1A"/>
                </a:solidFill>
                <a:latin typeface="Segoe UI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331720"/>
            <a:ext cx="1691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processeurs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NiFi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00200"/>
            <a:ext cx="1691640" cy="137160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783080"/>
            <a:ext cx="1691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2EC4B6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331720"/>
            <a:ext cx="1691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tables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Iceberg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600200"/>
            <a:ext cx="1691640" cy="137160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1783080"/>
            <a:ext cx="1691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4CA5FF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331720"/>
            <a:ext cx="1691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domaines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fonctionnels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600200"/>
            <a:ext cx="1691640" cy="137160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1783080"/>
            <a:ext cx="1691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E0B44A"/>
                </a:solidFill>
                <a:latin typeface="Segoe UI"/>
              </a:rPr>
              <a:t>180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2331720"/>
            <a:ext cx="1691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snapshots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quotidiens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1600200"/>
            <a:ext cx="1691640" cy="137160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29800" y="1783080"/>
            <a:ext cx="1691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A98BFF"/>
                </a:solidFill>
                <a:latin typeface="Segoe UI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2331720"/>
            <a:ext cx="1691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requêtes de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validation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200400"/>
            <a:ext cx="5257800" cy="278892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36499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5AD18B"/>
                </a:solidFill>
                <a:latin typeface="Segoe UI"/>
              </a:rPr>
              <a:t>Ce dont je suis satisfait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" y="3840480"/>
            <a:ext cx="82296" cy="82296"/>
          </a:xfrm>
          <a:prstGeom prst="rect">
            <a:avLst/>
          </a:prstGeom>
          <a:solidFill>
            <a:srgbClr val="5AD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3767328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l'idempotence est réelle à tous les étages, pas seulement affichée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8408" y="4370832"/>
            <a:ext cx="82296" cy="82296"/>
          </a:xfrm>
          <a:prstGeom prst="rect">
            <a:avLst/>
          </a:prstGeom>
          <a:solidFill>
            <a:srgbClr val="5AD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4297680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la donnée porte toujours sa nature : observée ou reconstruite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8408" y="4901184"/>
            <a:ext cx="82296" cy="82296"/>
          </a:xfrm>
          <a:prstGeom prst="rect">
            <a:avLst/>
          </a:prstGeom>
          <a:solidFill>
            <a:srgbClr val="5AD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4828032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aucune perte silencieuse — rejets marqués en Bronze, file de rebut en NiFi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8408" y="5431536"/>
            <a:ext cx="82296" cy="82296"/>
          </a:xfrm>
          <a:prstGeom prst="rect">
            <a:avLst/>
          </a:prstGeom>
          <a:solidFill>
            <a:srgbClr val="5AD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5358384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la plateforme se reconstruit entièrement par script, sans un clic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3200400"/>
            <a:ext cx="5257800" cy="2788920"/>
          </a:xfrm>
          <a:prstGeom prst="roundRect">
            <a:avLst>
              <a:gd name="adj" fmla="val 8000"/>
            </a:avLst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336499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0B44A"/>
                </a:solidFill>
                <a:latin typeface="Segoe UI"/>
              </a:rPr>
              <a:t>Ce que je ferais différemment à l'échelle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56248" y="3840480"/>
            <a:ext cx="82296" cy="82296"/>
          </a:xfrm>
          <a:prstGeom prst="rect">
            <a:avLst/>
          </a:prstGeom>
          <a:solidFill>
            <a:srgbClr val="E0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3767328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Gold recalculé intégralement → MERGE incrémental au-delà de quelques millions de lignes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56248" y="4370832"/>
            <a:ext cx="82296" cy="82296"/>
          </a:xfrm>
          <a:prstGeom prst="rect">
            <a:avLst/>
          </a:prstGeom>
          <a:solidFill>
            <a:srgbClr val="E0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66560" y="4297680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un seul PostgreSQL → séparer Airflow et Nessie (profils de charge distincts)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56248" y="4901184"/>
            <a:ext cx="82296" cy="82296"/>
          </a:xfrm>
          <a:prstGeom prst="rect">
            <a:avLst/>
          </a:prstGeom>
          <a:solidFill>
            <a:srgbClr val="E0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0" y="4828032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NiFi en HTTP → HTTPS avec certificat interne et jetons d'accès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56248" y="5431536"/>
            <a:ext cx="82296" cy="82296"/>
          </a:xfrm>
          <a:prstGeom prst="rect">
            <a:avLst/>
          </a:prstGeom>
          <a:solidFill>
            <a:srgbClr val="E0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0" y="5358384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9AB0CC"/>
                </a:solidFill>
                <a:latin typeface="Segoe UI"/>
              </a:rPr>
              <a:t>Spark en mode client depuis Airflow → cluster mode ou Kubernetes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1417320"/>
          </a:xfrm>
          <a:prstGeom prst="rect">
            <a:avLst/>
          </a:prstGeom>
          <a:solidFill>
            <a:srgbClr val="9AB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9EFF7"/>
                </a:solidFill>
                <a:latin typeface="Segoe UI"/>
              </a:rPr>
              <a:t>Annexe — matrice de versions et accès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3268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9AB0CC"/>
                </a:solidFill>
                <a:latin typeface="Segoe UI"/>
              </a:rPr>
              <a:t>Diapositive de secours, à ne montrer que si une question l'appelle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54480"/>
            <a:ext cx="5257800" cy="384048"/>
          </a:xfrm>
          <a:prstGeom prst="rect">
            <a:avLst/>
          </a:prstGeom>
          <a:solidFill>
            <a:srgbClr val="1E2F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1636776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9EFF7"/>
                </a:solidFill>
                <a:latin typeface="Segoe UI"/>
              </a:rPr>
              <a:t>Composant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1636776"/>
            <a:ext cx="2551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9EFF7"/>
                </a:solidFill>
                <a:latin typeface="Segoe UI"/>
              </a:rPr>
              <a:t>Version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938528"/>
            <a:ext cx="5257800" cy="384048"/>
          </a:xfrm>
          <a:prstGeom prst="rect">
            <a:avLst/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" y="2020824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Apache NiFi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020824"/>
            <a:ext cx="25511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9EFF7"/>
                </a:solidFill>
                <a:latin typeface="Consolas"/>
              </a:rPr>
              <a:t>1.28.1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240487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Apache Spark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404872"/>
            <a:ext cx="25511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9EFF7"/>
                </a:solidFill>
                <a:latin typeface="Consolas"/>
              </a:rPr>
              <a:t>3.5.1 (Scala 2.12, Java 17)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706624"/>
            <a:ext cx="5257800" cy="384048"/>
          </a:xfrm>
          <a:prstGeom prst="rect">
            <a:avLst/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2788920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Apache Iceberg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788920"/>
            <a:ext cx="25511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9EFF7"/>
                </a:solidFill>
                <a:latin typeface="Consolas"/>
              </a:rPr>
              <a:t>1.5.2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" y="3172968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Project Nessie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3172968"/>
            <a:ext cx="25511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9EFF7"/>
                </a:solidFill>
                <a:latin typeface="Consolas"/>
              </a:rPr>
              <a:t>0.77.1 — API v2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474720"/>
            <a:ext cx="5257800" cy="384048"/>
          </a:xfrm>
          <a:prstGeom prst="rect">
            <a:avLst/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3557016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Apache Airflow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557016"/>
            <a:ext cx="25511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9EFF7"/>
                </a:solidFill>
                <a:latin typeface="Consolas"/>
              </a:rPr>
              <a:t>2.9.3 — LocalExecutor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3941064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Dremio OSS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7560" y="3941064"/>
            <a:ext cx="25511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9EFF7"/>
                </a:solidFill>
                <a:latin typeface="Consolas"/>
              </a:rPr>
              <a:t>25.0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242816"/>
            <a:ext cx="5257800" cy="384048"/>
          </a:xfrm>
          <a:prstGeom prst="rect">
            <a:avLst/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432511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MinIO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4325112"/>
            <a:ext cx="25511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9EFF7"/>
                </a:solidFill>
                <a:latin typeface="Consolas"/>
              </a:rPr>
              <a:t>RELEASE.2024-09-13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" y="4709160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PostgreSQL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4709160"/>
            <a:ext cx="25511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9EFF7"/>
                </a:solidFill>
                <a:latin typeface="Consolas"/>
              </a:rPr>
              <a:t>15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5010912"/>
            <a:ext cx="5257800" cy="384048"/>
          </a:xfrm>
          <a:prstGeom prst="rect">
            <a:avLst/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3816" y="5093208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B0CC"/>
                </a:solidFill>
                <a:latin typeface="Segoe UI"/>
              </a:rPr>
              <a:t>Prometheus / Grafana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5093208"/>
            <a:ext cx="25511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9EFF7"/>
                </a:solidFill>
                <a:latin typeface="Consolas"/>
              </a:rPr>
              <a:t>2.54.1 / 11.2.0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1554480"/>
            <a:ext cx="5257800" cy="384048"/>
          </a:xfrm>
          <a:prstGeom prst="rect">
            <a:avLst/>
          </a:prstGeom>
          <a:solidFill>
            <a:srgbClr val="1E2F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1656" y="1636776"/>
            <a:ext cx="14996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9EFF7"/>
                </a:solidFill>
                <a:latin typeface="Segoe UI"/>
              </a:rPr>
              <a:t>Interface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4152" y="1636776"/>
            <a:ext cx="33924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9EFF7"/>
                </a:solidFill>
                <a:latin typeface="Segoe UI"/>
              </a:rPr>
              <a:t>Adresse et identifiants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63640" y="1938528"/>
            <a:ext cx="5257800" cy="384048"/>
          </a:xfrm>
          <a:prstGeom prst="rect">
            <a:avLst/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2020824"/>
            <a:ext cx="14996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MinIO console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74152" y="2020824"/>
            <a:ext cx="3392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9EFF7"/>
                </a:solidFill>
                <a:latin typeface="Consolas"/>
              </a:rPr>
              <a:t>localhost:9001 — lakehouse / lakehouse123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91656" y="2404872"/>
            <a:ext cx="14996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Apache NiFi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2404872"/>
            <a:ext cx="3392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9EFF7"/>
                </a:solidFill>
                <a:latin typeface="Consolas"/>
              </a:rPr>
              <a:t>localhost:8080/nifi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2706624"/>
            <a:ext cx="5257800" cy="384048"/>
          </a:xfrm>
          <a:prstGeom prst="rect">
            <a:avLst/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91656" y="2788920"/>
            <a:ext cx="14996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Apache Airflow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74152" y="2788920"/>
            <a:ext cx="3392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9EFF7"/>
                </a:solidFill>
                <a:latin typeface="Consolas"/>
              </a:rPr>
              <a:t>localhost:8085 — admin / admin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91656" y="3172968"/>
            <a:ext cx="14996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Spark master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74152" y="3172968"/>
            <a:ext cx="3392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9EFF7"/>
                </a:solidFill>
                <a:latin typeface="Consolas"/>
              </a:rPr>
              <a:t>localhost:8090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3474720"/>
            <a:ext cx="5257800" cy="384048"/>
          </a:xfrm>
          <a:prstGeom prst="rect">
            <a:avLst/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91656" y="3557016"/>
            <a:ext cx="14996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Dremio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74152" y="3557016"/>
            <a:ext cx="3392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9EFF7"/>
                </a:solidFill>
                <a:latin typeface="Consolas"/>
              </a:rPr>
              <a:t>localhost:9047 — dremio / dremio123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91656" y="3941064"/>
            <a:ext cx="14996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Nessie API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74152" y="3941064"/>
            <a:ext cx="3392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9EFF7"/>
                </a:solidFill>
                <a:latin typeface="Consolas"/>
              </a:rPr>
              <a:t>localhost:19120/api/v2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242816"/>
            <a:ext cx="5257800" cy="384048"/>
          </a:xfrm>
          <a:prstGeom prst="rect">
            <a:avLst/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91656" y="4325112"/>
            <a:ext cx="14996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Prometheus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74152" y="4325112"/>
            <a:ext cx="3392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9EFF7"/>
                </a:solidFill>
                <a:latin typeface="Consolas"/>
              </a:rPr>
              <a:t>localhost:9090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91656" y="4709160"/>
            <a:ext cx="14996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Grafana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74152" y="4709160"/>
            <a:ext cx="3392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9EFF7"/>
                </a:solidFill>
                <a:latin typeface="Consolas"/>
              </a:rPr>
              <a:t>localhost:3001 — admin / admin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63640" y="5010912"/>
            <a:ext cx="5257800" cy="384048"/>
          </a:xfrm>
          <a:prstGeom prst="rect">
            <a:avLst/>
          </a:prstGeom>
          <a:solidFill>
            <a:srgbClr val="16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91656" y="5093208"/>
            <a:ext cx="14996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B0CC"/>
                </a:solidFill>
                <a:latin typeface="Segoe UI"/>
              </a:rPr>
              <a:t>Ingestion (curl)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74152" y="5093208"/>
            <a:ext cx="3392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9EFF7"/>
                </a:solidFill>
                <a:latin typeface="Consolas"/>
              </a:rPr>
              <a:t>POST localhost:9095/ingest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85800" y="5669280"/>
            <a:ext cx="10835640" cy="685800"/>
          </a:xfrm>
          <a:prstGeom prst="roundRect">
            <a:avLst>
              <a:gd name="adj" fmla="val 8000"/>
            </a:avLst>
          </a:prstGeom>
          <a:solidFill>
            <a:srgbClr val="1E2F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0120" y="577900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FF7"/>
                </a:solidFill>
                <a:latin typeface="Segoe UI"/>
              </a:rPr>
              <a:t>Remise en route complète depuis zéro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" y="6053328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AD18B"/>
                </a:solidFill>
                <a:latin typeface="Consolas"/>
              </a:rPr>
              <a:t>make demarrage-complet      (build → up → flow NiFi → source Dremio → backfill 6 mois)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