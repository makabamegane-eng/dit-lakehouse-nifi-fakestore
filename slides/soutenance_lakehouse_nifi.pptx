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Bonjour. Je vais vous présenter ma plateforme data lakehouse conteneurisée,</a:t>
            </a:r>
          </a:p>
          <a:p>
            <a:r>
              <a:t>que j'ai construite de zéro à partir du cahier des charges. Elle ingère les</a:t>
            </a:r>
          </a:p>
          <a:p>
            <a:r>
              <a:t>données de FakeStoreAPI avec Apache NiFi vers MinIO, puis construit un médaillon</a:t>
            </a:r>
          </a:p>
          <a:p>
            <a:r>
              <a:t>Bronze, Silver, Gold en Apache Iceberg, catalogué par Nessie, le tout orchestré</a:t>
            </a:r>
          </a:p>
          <a:p>
            <a:r>
              <a:t>par Airflow et interrogé avec Dremio. Je vais vous montrer l'essentiel</a:t>
            </a:r>
          </a:p>
          <a:p>
            <a:r>
              <a:t>directement sur la plateforme en fonctionnement.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Voici le déroulé de ma présentation. Je commence par l'architecture et les</a:t>
            </a:r>
          </a:p>
          <a:p>
            <a:r>
              <a:t>choix structurants. Ensuite, l'essentiel se passe sur l'écran réel : la revue</a:t>
            </a:r>
          </a:p>
          <a:p>
            <a:r>
              <a:t>du docker-compose, le flow NiFi, les jobs Spark, le test Dremio, et enfin une</a:t>
            </a:r>
          </a:p>
          <a:p>
            <a:r>
              <a:t>démonstration complète de bout en bout. Je termine par le bilan — les</a:t>
            </a:r>
          </a:p>
          <a:p>
            <a:r>
              <a:t>difficultés rencontrées, mes choix, et les bonus réalisés.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sujet impose une pile technique, mais pas d'architecture. Tout ce qui est</a:t>
            </a:r>
          </a:p>
          <a:p>
            <a:r>
              <a:t>dans la colonne de droite relève de mes propres choix : la topologie Docker, la</a:t>
            </a:r>
          </a:p>
          <a:p>
            <a:r>
              <a:t>conception du flow NiFi, la convention de nommage de la zone brute, le contenu</a:t>
            </a:r>
          </a:p>
          <a:p>
            <a:r>
              <a:t>de chaque couche du médaillon, la stratégie d'historisation et l'orchestration.</a:t>
            </a:r>
          </a:p>
          <a:p>
            <a:r>
              <a:t>C'est sur ces points que je vais m'attarder, parce que c'est là que se situe le</a:t>
            </a:r>
          </a:p>
          <a:p>
            <a:r>
              <a:t>travail réellement évalué.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Suivons le chemin de la donnée, de gauche à droite. Une donnée entre par</a:t>
            </a:r>
          </a:p>
          <a:p>
            <a:r>
              <a:t>NiFi — c'est le seul composant qui parle à l'extérieur. Elle atterrit en JSON</a:t>
            </a:r>
          </a:p>
          <a:p>
            <a:r>
              <a:t>brut dans le bucket lakehouse-raw de MinIO, partitionnée par date d'ingestion.</a:t>
            </a:r>
          </a:p>
          <a:p>
            <a:r>
              <a:t>Spark la reprend et construit les trois couches du médaillon en tables Iceberg ;</a:t>
            </a:r>
          </a:p>
          <a:p>
            <a:r>
              <a:t>ces tables sont décrites par Nessie, qui joue le rôle de catalogue versionné, et</a:t>
            </a:r>
          </a:p>
          <a:p>
            <a:r>
              <a:t>leurs fichiers Parquet vivent dans le second bucket. Dremio lit ce même</a:t>
            </a:r>
          </a:p>
          <a:p>
            <a:r>
              <a:t>catalogue et expose le tout en SQL. Airflow ordonnance l'ensemble, Prometheus et</a:t>
            </a:r>
          </a:p>
          <a:p>
            <a:r>
              <a:t>Grafana l'observent.</a:t>
            </a:r>
          </a:p>
          <a:p/>
          <a:p>
            <a:r>
              <a:t>Je veux souligner deux points. D'abord, les deux buckets sont volontairement</a:t>
            </a:r>
          </a:p>
          <a:p>
            <a:r>
              <a:t>séparés : c'est une contrainte du sujet, mais aussi deux politiques différentes,</a:t>
            </a:r>
          </a:p>
          <a:p>
            <a:r>
              <a:t>une rétention de quatre-vingt-dix jours sur la zone brute et du versionnement</a:t>
            </a:r>
          </a:p>
          <a:p>
            <a:r>
              <a:t>sur le warehouse. Ensuite, tout se désigne par nom de service Docker : depuis le</a:t>
            </a:r>
          </a:p>
          <a:p>
            <a:r>
              <a:t>conteneur NiFi, localhost désignerait NiFi lui-même, donc l'endpoint S3 est</a:t>
            </a:r>
          </a:p>
          <a:p>
            <a:r>
              <a:t>http://minio:9000. C'est le piège classique de ce type de plateforme.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 vais développer deux de ces quatre choix, ceux qui portent le plus.</a:t>
            </a:r>
          </a:p>
          <a:p/>
          <a:p>
            <a:r>
              <a:t>D'abord, NiFi est déclenché par un ListenHTTP, et non par un GenerateFlowFile</a:t>
            </a:r>
          </a:p>
          <a:p>
            <a:r>
              <a:t>planifié. La raison est directement liée à la contrainte des six mois : c'est</a:t>
            </a:r>
          </a:p>
          <a:p>
            <a:r>
              <a:t>l'appelant qui porte la date logique du snapshot. Airflow envoie cent</a:t>
            </a:r>
          </a:p>
          <a:p>
            <a:r>
              <a:t>quatre-vingts demandes, chacune avec sa date, et NiFi range chaque réponse dans</a:t>
            </a:r>
          </a:p>
          <a:p>
            <a:r>
              <a:t>la bonne partition. Un processeur simplement planifié ne saurait ingérer que</a:t>
            </a:r>
          </a:p>
          <a:p>
            <a:r>
              <a:t>« maintenant », ce qui rendrait le backfill impossible.</a:t>
            </a:r>
          </a:p>
          <a:p/>
          <a:p>
            <a:r>
              <a:t>Ensuite, pour le déclenchement du médaillon, j'ai retenu l'option A. Un DAG qui</a:t>
            </a:r>
          </a:p>
          <a:p>
            <a:r>
              <a:t>observe l'état réel du stockage survit à une panne de NiFi ou à un redémarrage ;</a:t>
            </a:r>
          </a:p>
          <a:p>
            <a:r>
              <a:t>un DAG déclenché par événement perd les données si l'événement se perd. J'ai</a:t>
            </a:r>
          </a:p>
          <a:p>
            <a:r>
              <a:t>tout de même câblé l'option B, et je la montrerai.</a:t>
            </a:r>
          </a:p>
          <a:p/>
          <a:p>
            <a:r>
              <a:t>Passons maintenant à l'écran.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fichier docker-compose fait près de cinq cents lignes ; plutôt que de tout</a:t>
            </a:r>
          </a:p>
          <a:p>
            <a:r>
              <a:t>faire défiler, j'en ai extrait les grandes lignes à l'écran.</a:t>
            </a:r>
          </a:p>
          <a:p/>
          <a:p>
            <a:r>
              <a:t>Onze services tournent sur un seul réseau bridge. Je veux insister sur trois</a:t>
            </a:r>
          </a:p>
          <a:p>
            <a:r>
              <a:t>choses. D'abord les endpoints : tout est désigné par nom de service Docker,</a:t>
            </a:r>
          </a:p>
          <a:p>
            <a:r>
              <a:t>jamais par localhost — c'est ce qui permet à NiFi d'écrire dans MinIO. Ensuite</a:t>
            </a:r>
          </a:p>
          <a:p>
            <a:r>
              <a:t>les volumes : NiFi en a sept à lui seul, parce que son état interne, le</a:t>
            </a:r>
          </a:p>
          <a:p>
            <a:r>
              <a:t>repository de flowfiles et la provenance, doit survivre à un redémarrage ; c'est</a:t>
            </a:r>
          </a:p>
          <a:p>
            <a:r>
              <a:t>une exigence de la Partie 2. Enfin l'ordre de démarrage : je n'utilise pas</a:t>
            </a:r>
          </a:p>
          <a:p>
            <a:r>
              <a:t>depends_on seul, mais la condition service_healthy. Nessie migre son schéma au</a:t>
            </a:r>
          </a:p>
          <a:p>
            <a:r>
              <a:t>démarrage, donc PostgreSQL doit être réellement prêt, pas seulement lancé.</a:t>
            </a:r>
          </a:p>
          <a:p/>
          <a:p>
            <a:r>
              <a:t>Je passe maintenant dans un terminal et je lance docker compose ps : vous voyez</a:t>
            </a:r>
          </a:p>
          <a:p>
            <a:r>
              <a:t>que tous les services sont au vert, en healthy.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 bascule sur l'interface NiFi et j'entre dans le Process Group « FakeStoreAPI</a:t>
            </a:r>
          </a:p>
          <a:p>
            <a:r>
              <a:t>Ingestion ». Je vais parcourir la chaîne de gauche à droite en expliquant</a:t>
            </a:r>
          </a:p>
          <a:p>
            <a:r>
              <a:t>pourquoi chaque processeur est là.</a:t>
            </a:r>
          </a:p>
          <a:p/>
          <a:p>
            <a:r>
              <a:t>ListenHTTP reçoit la demande d'Airflow. EvaluateJsonPath extrait la date</a:t>
            </a:r>
          </a:p>
          <a:p>
            <a:r>
              <a:t>logique — et il est important qu'il soit placé avant le SplitJson : les</a:t>
            </a:r>
          </a:p>
          <a:p>
            <a:r>
              <a:t>attributs d'un FlowFile sont hérités par tous ses fragments, la date suit donc</a:t>
            </a:r>
          </a:p>
          <a:p>
            <a:r>
              <a:t>les trois branches sans être relue. SplitJson éclate le tableau des domaines, ce</a:t>
            </a:r>
          </a:p>
          <a:p>
            <a:r>
              <a:t>qui fait partir les trois appels API en parallèle : un échec sur /carts</a:t>
            </a:r>
          </a:p>
          <a:p>
            <a:r>
              <a:t>n'empêche pas /products d'aboutir. InvokeHTTP est le seul point de sortie vers</a:t>
            </a:r>
          </a:p>
          <a:p>
            <a:r>
              <a:t>Internet, et son URL est paramétrée.</a:t>
            </a:r>
          </a:p>
          <a:p/>
          <a:p>
            <a:r>
              <a:t>Sur le contrôle : RouteOnAttribute fait le contrôle minimal exigé par le sujet,</a:t>
            </a:r>
          </a:p>
          <a:p>
            <a:r>
              <a:t>et rien de plus — code 200, charge utile non vide, type MIME JSON. Pas de</a:t>
            </a:r>
          </a:p>
          <a:p>
            <a:r>
              <a:t>parsing, pas de calcul, pas de jointure : la transformation métier appartient à</a:t>
            </a:r>
          </a:p>
          <a:p>
            <a:r>
              <a:t>Spark, c'est une contrainte explicite du sujet.</a:t>
            </a:r>
          </a:p>
          <a:p/>
          <a:p>
            <a:r>
              <a:t>Pour l'idempotence : DetectDuplicate utilise la clé domaine plus date. Rejouer</a:t>
            </a:r>
          </a:p>
          <a:p>
            <a:r>
              <a:t>une ingestion déjà faite n'écrit pas un second objet dans MinIO.</a:t>
            </a:r>
          </a:p>
          <a:p/>
          <a:p>
            <a:r>
              <a:t>J'ouvre maintenant le processeur PutS3Object et je montre ses deux propriétés</a:t>
            </a:r>
          </a:p>
          <a:p>
            <a:r>
              <a:t>critiques. L'Endpoint Override URL est http://minio:9000, le nom de service</a:t>
            </a:r>
          </a:p>
          <a:p>
            <a:r>
              <a:t>Docker, et surtout pas localhost. Et Use Path Style Access est à true, parce que</a:t>
            </a:r>
          </a:p>
          <a:p>
            <a:r>
              <a:t>MinIO n'implémente pas le virtual-hosted style d'AWS.</a:t>
            </a:r>
          </a:p>
          <a:p/>
          <a:p>
            <a:r>
              <a:t>J'ouvre ensuite le Parameter Context : tout ce qui est spécifique à FakeStoreAPI</a:t>
            </a:r>
          </a:p>
          <a:p>
            <a:r>
              <a:t>est là. Changer api.base.url suffit à brancher ce flow sur une autre API — c'est</a:t>
            </a:r>
          </a:p>
          <a:p>
            <a:r>
              <a:t>le bonus 7.4. Et les secrets sont marqués comme sensibles, donc chiffrés par</a:t>
            </a:r>
          </a:p>
          <a:p>
            <a:r>
              <a:t>NiFi.</a:t>
            </a:r>
          </a:p>
          <a:p/>
          <a:p>
            <a:r>
              <a:t>Je termine sur la console MinIO, où l'on voit l'arborescence réelle avec les</a:t>
            </a:r>
          </a:p>
          <a:p>
            <a:r>
              <a:t>partitions ingest_date.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Avant de montrer le code, je pose le contrat de chaque couche.</a:t>
            </a:r>
          </a:p>
          <a:p/>
          <a:p>
            <a:r>
              <a:t>Bronze est la mémoire : une copie fidèle, les structures imbriquées conservées,</a:t>
            </a:r>
          </a:p>
          <a:p>
            <a:r>
              <a:t>et surtout les rejets ne sont pas supprimés — ils sont marqués avec un motif,</a:t>
            </a:r>
          </a:p>
          <a:p>
            <a:r>
              <a:t>parce qu'un rejet doit rester analysable, pas invisible. Il y a une seule</a:t>
            </a:r>
          </a:p>
          <a:p>
            <a:r>
              <a:t>entorse à la fidélité : le champ password de /users est haché dès l'écriture,</a:t>
            </a:r>
          </a:p>
          <a:p>
            <a:r>
              <a:t>car aucun argument de fidélité ne justifie de stocker un secret en clair.</a:t>
            </a:r>
          </a:p>
          <a:p/>
          <a:p>
            <a:r>
              <a:t>Silver est la vérité métier : typé, aplati, dédoublonné, enrichi. Les prix sont</a:t>
            </a:r>
          </a:p>
          <a:p>
            <a:r>
              <a:t>en DECIMAL, pas en DOUBLE — agrégés sur cinq mille lignes, les flottants</a:t>
            </a:r>
          </a:p>
          <a:p>
            <a:r>
              <a:t>produisent des écarts au centime qui font échouer les réconciliations.</a:t>
            </a:r>
          </a:p>
          <a:p/>
          <a:p>
            <a:r>
              <a:t>Gold répond aux questions : les agrégats sont matérialisés, et l'outil de</a:t>
            </a:r>
          </a:p>
          <a:p>
            <a:r>
              <a:t>restitution n'a plus qu'à lire.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un point où le jury attend une réponse honnête, et je ne vais pas</a:t>
            </a:r>
          </a:p>
          <a:p>
            <a:r>
              <a:t>l'esquiver. La contrainte 4.1 demande environ six mois d'historique, alors que</a:t>
            </a:r>
          </a:p>
          <a:p>
            <a:r>
              <a:t>l'API ne renvoie que l'état courant. Deux réponses faciles s'offraient à moi, et</a:t>
            </a:r>
          </a:p>
          <a:p>
            <a:r>
              <a:t>je les ai écartées toutes les deux : ingérer cent quatre-vingts fois la même</a:t>
            </a:r>
          </a:p>
          <a:p>
            <a:r>
              <a:t>chose donne un historique conforme mais mort ; générer des données de toutes</a:t>
            </a:r>
          </a:p>
          <a:p>
            <a:r>
              <a:t>pièces trahit la contrainte de source.</a:t>
            </a:r>
          </a:p>
          <a:p/>
          <a:p>
            <a:r>
              <a:t>Je me suis imposé deux propriétés. D'abord le déterminisme : aucune fonction</a:t>
            </a:r>
          </a:p>
          <a:p>
            <a:r>
              <a:t>aléatoire, tout dérive d'un hash de la clé, de la date et d'une graine, si bien</a:t>
            </a:r>
          </a:p>
          <a:p>
            <a:r>
              <a:t>que relancer le backfill reproduit exactement le même historique. Ensuite</a:t>
            </a:r>
          </a:p>
          <a:p>
            <a:r>
              <a:t>l'ancrage sur le réel : la valeur que l'API renvoie aujourd'hui est traitée</a:t>
            </a:r>
          </a:p>
          <a:p>
            <a:r>
              <a:t>comme le point d'arrivée de l'historique, et le modèle rétro-projette le passé.</a:t>
            </a:r>
          </a:p>
          <a:p>
            <a:r>
              <a:t>Sur la date la plus récente, le facteur vaut exactement un : la donnée observée</a:t>
            </a:r>
          </a:p>
          <a:p>
            <a:r>
              <a:t>n'est jamais altérée.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 réponse tient en trois niveaux, du plus réel au plus reconstruit.</a:t>
            </a:r>
          </a:p>
          <a:p/>
          <a:p>
            <a:r>
              <a:t>Le niveau un est toujours actif : NiFi est déclenché une fois par date logique</a:t>
            </a:r>
          </a:p>
          <a:p>
            <a:r>
              <a:t>sur cent quatre-vingts jours, et chaque itération est un vrai appel HTTP. La</a:t>
            </a:r>
          </a:p>
          <a:p>
            <a:r>
              <a:t>zone brute contient donc cent quatre-vingts snapshots authentiques — c'est ce</a:t>
            </a:r>
          </a:p>
          <a:p>
            <a:r>
              <a:t>niveau qui satisfait littéralement la contrainte du sujet.</a:t>
            </a:r>
          </a:p>
          <a:p/>
          <a:p>
            <a:r>
              <a:t>Le niveau deux concerne les paniers : ils portent une vraie date, mais de 2019 ;</a:t>
            </a:r>
          </a:p>
          <a:p>
            <a:r>
              <a:t>je la projette de façon déterministe sur la fenêtre courante. Les</a:t>
            </a:r>
          </a:p>
          <a:p>
            <a:r>
              <a:t>enregistrements restent réels, seule leur position dans le temps change.</a:t>
            </a:r>
          </a:p>
          <a:p/>
          <a:p>
            <a:r>
              <a:t>Le niveau trois est le seul vraiment synthétique, et il est désactivable : un</a:t>
            </a:r>
          </a:p>
          <a:p>
            <a:r>
              <a:t>modèle déterministe applique une dérive de prix et une croissance du cumul</a:t>
            </a:r>
          </a:p>
          <a:p>
            <a:r>
              <a:t>d'avis, pour que les analyses temporelles aient du sens.</a:t>
            </a:r>
          </a:p>
          <a:p/>
          <a:p>
            <a:r>
              <a:t>Et voici le point qui compte : toute ligne concernée porte un booléen</a:t>
            </a:r>
          </a:p>
          <a:p>
            <a:r>
              <a:t>is_reconstructed, et la mesure brute reste disponible à côté de la mesure</a:t>
            </a:r>
          </a:p>
          <a:p>
            <a:r>
              <a:t>historisée. Le lakehouse ne ment jamais sur la nature d'une donnée.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 bascule sur mon éditeur pour montrer trois fichiers, et j'explique une idée</a:t>
            </a:r>
          </a:p>
          <a:p>
            <a:r>
              <a:t>dans chacun.</a:t>
            </a:r>
          </a:p>
          <a:p/>
          <a:p>
            <a:r>
              <a:t>Le premier, bronze_ingest.py : un seul job pour les trois domaines, paramétré</a:t>
            </a:r>
          </a:p>
          <a:p>
            <a:r>
              <a:t>par --domain. Deux choses. Le schéma est explicite, jamais inféré — une</a:t>
            </a:r>
          </a:p>
          <a:p>
            <a:r>
              <a:t>inférence changerait toute seule le type d'une colonne le jour où l'API renvoie</a:t>
            </a:r>
          </a:p>
          <a:p>
            <a:r>
              <a:t>un entier au lieu d'un décimal, et casserait Silver en silence. Et l'écriture se</a:t>
            </a:r>
          </a:p>
          <a:p>
            <a:r>
              <a:t>fait en overwritePartitions : retraiter une date remplace exactement sa</a:t>
            </a:r>
          </a:p>
          <a:p>
            <a:r>
              <a:t>partition, donc rejouer un DAG run ne duplique rien.</a:t>
            </a:r>
          </a:p>
          <a:p/>
          <a:p>
            <a:r>
              <a:t>Le deuxième, silver_products.py : ici on voit le row_number qui dédoublonne,</a:t>
            </a:r>
          </a:p>
          <a:p>
            <a:r>
              <a:t>puis le facteur de prix. C'est l'historisation à l'œuvre — unit_price_observed</a:t>
            </a:r>
          </a:p>
          <a:p>
            <a:r>
              <a:t>garde la mesure brute, unit_price porte la mesure historisée.</a:t>
            </a:r>
          </a:p>
          <a:p/>
          <a:p>
            <a:r>
              <a:t>Le troisième, gold_sales_daily.py, c'est le point fort. Regardez la clause de</a:t>
            </a:r>
          </a:p>
          <a:p>
            <a:r>
              <a:t>jointure : la jointure entre les commandes et les produits est temporelle,</a:t>
            </a:r>
          </a:p>
          <a:p>
            <a:r>
              <a:t>p.snapshot_date égale o.order_date. Valoriser une commande de mars avec le prix</a:t>
            </a:r>
          </a:p>
          <a:p>
            <a:r>
              <a:t>du catalogue d'aujourd'hui serait une erreur classique de dimension à évolution</a:t>
            </a:r>
          </a:p>
          <a:p>
            <a:r>
              <a:t>lente. Et c'est un LEFT JOIN volontairement : une ligne sans produit</a:t>
            </a:r>
          </a:p>
          <a:p>
            <a:r>
              <a:t>correspondant n'est pas perdue, elle est comptée dans nb_unmatched_lines, un</a:t>
            </a:r>
          </a:p>
          <a:p>
            <a:r>
              <a:t>indicateur d'intégrité référentielle que la porte qualité vérifie.</a:t>
            </a:r>
          </a:p>
          <a:p/>
          <a:p>
            <a:r>
              <a:t>Enfin, dans data_quality_checks.py, il y a une réconciliation croisée : deux</a:t>
            </a:r>
          </a:p>
          <a:p>
            <a:r>
              <a:t>tables Gold construites par deux jobs indépendants, dont le total de chiffre</a:t>
            </a:r>
          </a:p>
          <a:p>
            <a:r>
              <a:t>d'affaires doit coïncider.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 bascule sur Dremio. Avant tout, je montre l'arborescence de la source :</a:t>
            </a:r>
          </a:p>
          <a:p>
            <a:r>
              <a:t>lakehouse, avec bronze, silver et gold. Ces tables ne sont déclarées nulle part</a:t>
            </a:r>
          </a:p>
          <a:p>
            <a:r>
              <a:t>dans Dremio — c'est Nessie qui les décrit, Dremio ne fait que lire le catalogue.</a:t>
            </a:r>
          </a:p>
          <a:p/>
          <a:p>
            <a:r>
              <a:t>Je lance maintenant ma validation, qui joue les dix requêtes et affiche les</a:t>
            </a:r>
          </a:p>
          <a:p>
            <a:r>
              <a:t>résultats, et je commente les plus parlantes.</a:t>
            </a:r>
          </a:p>
          <a:p/>
          <a:p>
            <a:r>
              <a:t>En Bronze, sur Q1, la colonne rating est encore un STRUCT, et chaque ligne sait</a:t>
            </a:r>
          </a:p>
          <a:p>
            <a:r>
              <a:t>de quel objet MinIO elle provient et à quel instant réel l'appel a eu lieu.</a:t>
            </a:r>
          </a:p>
          <a:p/>
          <a:p>
            <a:r>
              <a:t>En Silver, sur Q2, il n'y a plus aucune structure imbriquée, un prix décimal, et</a:t>
            </a:r>
          </a:p>
          <a:p>
            <a:r>
              <a:t>la mesure brute conservée à côté de la mesure historisée.</a:t>
            </a:r>
          </a:p>
          <a:p/>
          <a:p>
            <a:r>
              <a:t>Sur Q4, la jointure : trois domaines réunis — commandes, produits et clients —</a:t>
            </a:r>
          </a:p>
          <a:p>
            <a:r>
              <a:t>avec une jointure temporelle sur les produits.</a:t>
            </a:r>
          </a:p>
          <a:p/>
          <a:p>
            <a:r>
              <a:t>Sur Q6, l'agrégation : six mois agrégés par mois et par catégorie. C'est la</a:t>
            </a:r>
          </a:p>
          <a:p>
            <a:r>
              <a:t>démonstration directe que la contrainte d'historisation produit de la valeur.</a:t>
            </a:r>
          </a:p>
          <a:p/>
          <a:p>
            <a:r>
              <a:t>Les dix requêtes passent au vert, dix sur dix, et j'affiche le verdict. Je peux</a:t>
            </a:r>
          </a:p>
          <a:p>
            <a:r>
              <a:t>aussi montrer l'espace analytics, où j'ai publié trois vues métier au-dessus des</a:t>
            </a:r>
          </a:p>
          <a:p>
            <a:r>
              <a:t>tables Gold.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Voici la séquence qui prouve que tout s'enchaîne. Je déclenche maintenant le DAG</a:t>
            </a:r>
          </a:p>
          <a:p>
            <a:r>
              <a:t>d'ingestion quotidienne dans Airflow, et je montre son graphe : vérifier NiFi,</a:t>
            </a:r>
          </a:p>
          <a:p>
            <a:r>
              <a:t>déclencher l'ingestion, attendre le dépôt, vérifier la volumétrie, puis</a:t>
            </a:r>
          </a:p>
          <a:p>
            <a:r>
              <a:t>déclencher le médaillon.</a:t>
            </a:r>
          </a:p>
          <a:p/>
          <a:p>
            <a:r>
              <a:t>Airflow ne récupère pas les données lui-même : il demande à NiFi de le faire.</a:t>
            </a:r>
          </a:p>
          <a:p>
            <a:r>
              <a:t>NiFi reste l'unique point d'ingestion. Je bascule sur NiFi, et vous voyez les</a:t>
            </a:r>
          </a:p>
          <a:p>
            <a:r>
              <a:t>compteurs des processeurs qui s'incrémentent.</a:t>
            </a:r>
          </a:p>
          <a:p/>
          <a:p>
            <a:r>
              <a:t>Et voici le dépôt : je rafraîchis MinIO sur la partition ingest_date</a:t>
            </a:r>
          </a:p>
          <a:p>
            <a:r>
              <a:t>d'aujourd'hui, le nouvel objet JSON apparaît.</a:t>
            </a:r>
          </a:p>
          <a:p/>
          <a:p>
            <a:r>
              <a:t>La tâche attendre_depot ne suppose pas que NiFi a terminé : elle observe la zone</a:t>
            </a:r>
          </a:p>
          <a:p>
            <a:r>
              <a:t>brute jusqu'à constater le dépôt. C'est l'option A. Un DAG qui observe l'état</a:t>
            </a:r>
          </a:p>
          <a:p>
            <a:r>
              <a:t>réel du stockage survit à une panne de NiFi ; un DAG déclenché par événement</a:t>
            </a:r>
          </a:p>
          <a:p>
            <a:r>
              <a:t>perd les données si le signal se perd.</a:t>
            </a:r>
          </a:p>
          <a:p/>
          <a:p>
            <a:r>
              <a:t>Je reviens sur Airflow : le médaillon a démarré tout seul. Sur l'interface du</a:t>
            </a:r>
          </a:p>
          <a:p>
            <a:r>
              <a:t>master Spark, l'application est en cours d'exécution. Les tâches passent au vert,</a:t>
            </a:r>
          </a:p>
          <a:p>
            <a:r>
              <a:t>de Bronze à Silver à Gold, jusqu'aux contrôles qualité.</a:t>
            </a:r>
          </a:p>
          <a:p/>
          <a:p>
            <a:r>
              <a:t>Et la donnée est immédiatement interrogeable : je reviens sur Dremio, je rejoue</a:t>
            </a:r>
          </a:p>
          <a:p>
            <a:r>
              <a:t>Q3, et la date du jour est bien là.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cinq bonus proposés sont couverts. Le plus intéressant est le dernier :</a:t>
            </a:r>
          </a:p>
          <a:p>
            <a:r>
              <a:t>Nessie apporte un vrai versionnement de branche, comme git. On peut recalculer</a:t>
            </a:r>
          </a:p>
          <a:p>
            <a:r>
              <a:t>un agrégat sur une branche, le contrôler, et ne fusionner sur main que si le</a:t>
            </a:r>
          </a:p>
          <a:p>
            <a:r>
              <a:t>résultat convient. Si le temps le permet, je le montre en direct : deux</a:t>
            </a:r>
          </a:p>
          <a:p>
            <a:r>
              <a:t>snapshots comparés, puis une branche Nessie créée et modifiée, pendant que main</a:t>
            </a:r>
          </a:p>
          <a:p>
            <a:r>
              <a:t>reste intact.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difficultés m'ont vraiment occupé. La première : dans Spark, il y a deux</a:t>
            </a:r>
          </a:p>
          <a:p>
            <a:r>
              <a:t>chemins d'accès à S3 qui n'ont rien à voir. Lire les JSON bruts passe par le</a:t>
            </a:r>
          </a:p>
          <a:p>
            <a:r>
              <a:t>connecteur s3a de Hadoop ; écrire les tables Iceberg passe par S3FileIO, qui</a:t>
            </a:r>
          </a:p>
          <a:p>
            <a:r>
              <a:t>utilise le SDK AWS v2. Les deux doivent être configurés séparément — tant que je</a:t>
            </a:r>
          </a:p>
          <a:p>
            <a:r>
              <a:t>n'avais configuré que l'un, la moitié du pipeline échouait sans message clair.</a:t>
            </a:r>
          </a:p>
          <a:p/>
          <a:p>
            <a:r>
              <a:t>La seconde : le driver Spark tourne dans le conteneur Airflow, en mode client.</a:t>
            </a:r>
          </a:p>
          <a:p>
            <a:r>
              <a:t>Il fallait donc y installer non seulement un JRE, mais la même version de Spark</a:t>
            </a:r>
          </a:p>
          <a:p>
            <a:r>
              <a:t>et les mêmes JARs que le cluster, parce que le protocole RPC entre le master et</a:t>
            </a:r>
          </a:p>
          <a:p>
            <a:r>
              <a:t>les workers n'est pas garanti compatible entre versions mineures.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Pour conclure : onze services, douze processeurs NiFi, dix tables Iceberg, trois</a:t>
            </a:r>
          </a:p>
          <a:p>
            <a:r>
              <a:t>domaines fonctionnels, cent quatre-vingts snapshots quotidiens.</a:t>
            </a:r>
          </a:p>
          <a:p/>
          <a:p>
            <a:r>
              <a:t>Ce dont je suis le plus satisfait, c'est que l'idempotence soit réelle à tous</a:t>
            </a:r>
          </a:p>
          <a:p>
            <a:r>
              <a:t>les étages, et que la donnée porte toujours sa nature : on sait toujours si une</a:t>
            </a:r>
          </a:p>
          <a:p>
            <a:r>
              <a:t>mesure est observée ou reconstruite.</a:t>
            </a:r>
          </a:p>
          <a:p/>
          <a:p>
            <a:r>
              <a:t>Ce que je ferais différemment à plus grande échelle : Gold est recalculé</a:t>
            </a:r>
          </a:p>
          <a:p>
            <a:r>
              <a:t>intégralement, ce qui ne tiendrait pas au-delà de quelques millions de lignes ;</a:t>
            </a:r>
          </a:p>
          <a:p>
            <a:r>
              <a:t>et j'ai fait des compromis assumés sur la sécurité de NiFi, adaptés à un</a:t>
            </a:r>
          </a:p>
          <a:p>
            <a:r>
              <a:t>environnement local mais pas à une production.</a:t>
            </a:r>
          </a:p>
          <a:p/>
          <a:p>
            <a:r>
              <a:t>Merci de votre attention.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Sur les versions et la compatibilité : j'utilise Spark 3.5.1, avec</a:t>
            </a:r>
          </a:p>
          <a:p>
            <a:r>
              <a:t>l'iceberg-spark-runtime 3.5 en version 1.5.2 et les nessie-spark-extensions 3.5</a:t>
            </a:r>
          </a:p>
          <a:p>
            <a:r>
              <a:t>en version 0.77.1, plus hadoop-aws 3.3.4 et l'aws-java-sdk-bundle 1.12.262. Ces</a:t>
            </a:r>
          </a:p>
          <a:p>
            <a:r>
              <a:t>JARs sont embarqués dans l'image, ils ne sont pas résolus par --packages : le</a:t>
            </a:r>
          </a:p>
          <a:p>
            <a:r>
              <a:t>pipeline est donc reproductible et fonctionne sans accès Internet. Et vous avez</a:t>
            </a:r>
          </a:p>
          <a:p>
            <a:r>
              <a:t>sur cette diapositive toutes les adresses et les identifiants d'accès aux</a:t>
            </a:r>
          </a:p>
          <a:p>
            <a:r>
              <a:t>interfaces.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64592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9184" y="0"/>
            <a:ext cx="164592" cy="6858000"/>
          </a:xfrm>
          <a:prstGeom prst="rect">
            <a:avLst/>
          </a:prstGeom>
          <a:solidFill>
            <a:srgbClr val="4CA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05156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AB0CC"/>
                </a:solidFill>
                <a:latin typeface="Segoe UI"/>
              </a:rPr>
              <a:t>DIT — DAKAR INSTITUTE OF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389888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AB0CC"/>
                </a:solidFill>
                <a:latin typeface="Segoe UI"/>
              </a:rPr>
              <a:t>Master 2 — Ingénierie des Données / Big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5740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E9EFF7"/>
                </a:solidFill>
                <a:latin typeface="Segoe UI"/>
              </a:rPr>
              <a:t>Plateforme Data Lakehouse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8803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FF7A1A"/>
                </a:solidFill>
                <a:latin typeface="Segoe UI"/>
              </a:rPr>
              <a:t>Ingestion Apache NiFi depuis une API publique vers MinIO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36499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9AB0CC"/>
                </a:solidFill>
                <a:latin typeface="Segoe UI"/>
              </a:rPr>
              <a:t>Médaillon Bronze → Silver → Gold en Apache Iceberg, catalogue Nessie, requêtage Dremio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4069080"/>
            <a:ext cx="9692640" cy="36576"/>
          </a:xfrm>
          <a:prstGeom prst="rect">
            <a:avLst/>
          </a:prstGeom>
          <a:solidFill>
            <a:srgbClr val="1E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3891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500" b="0" i="0">
                <a:solidFill>
                  <a:srgbClr val="9AB0CC"/>
                </a:solidFill>
                <a:latin typeface="Segoe UI"/>
              </a:rPr>
              <a:t>Module : </a:t>
            </a:r>
            <a:r>
              <a:rPr sz="1500" b="0" i="0">
                <a:solidFill>
                  <a:srgbClr val="E9EFF7"/>
                </a:solidFill>
                <a:latin typeface="Segoe UI"/>
              </a:rPr>
              <a:t>Architectures Data Lakehouse &amp; Ingestion de données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1500" b="0" i="0">
                <a:solidFill>
                  <a:srgbClr val="9AB0CC"/>
                </a:solidFill>
                <a:latin typeface="Segoe UI"/>
              </a:rPr>
              <a:t>Enseignant : </a:t>
            </a:r>
            <a:r>
              <a:rPr sz="1500" b="0" i="0">
                <a:solidFill>
                  <a:srgbClr val="E9EFF7"/>
                </a:solidFill>
                <a:latin typeface="Segoe UI"/>
              </a:rPr>
              <a:t>M. PENE — Data Engineer &amp; Data Lecturer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1500" b="0" i="0">
                <a:solidFill>
                  <a:srgbClr val="9AB0CC"/>
                </a:solidFill>
                <a:latin typeface="Segoe UI"/>
              </a:rPr>
              <a:t>Épreuve : </a:t>
            </a:r>
            <a:r>
              <a:rPr sz="1500" b="0" i="0">
                <a:solidFill>
                  <a:srgbClr val="E9EFF7"/>
                </a:solidFill>
                <a:latin typeface="Segoe UI"/>
              </a:rPr>
              <a:t>examen individuel à domicile — soutenance vidéo 15 minutes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EC4B6"/>
                </a:solidFill>
                <a:latin typeface="Segoe UI"/>
              </a:rPr>
              <a:t>Nom Prénom  ·  Promotion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14173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9EFF7"/>
                </a:solidFill>
                <a:latin typeface="Segoe UI"/>
              </a:rPr>
              <a:t>Déroulé de la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AB0CC"/>
                </a:solidFill>
                <a:latin typeface="Segoe UI"/>
              </a:rPr>
              <a:t>7 séquences — 15 minutes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10835640" cy="576072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64008" cy="57607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28216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EC4B6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755648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E9EFF7"/>
                </a:solidFill>
                <a:latin typeface="Segoe UI"/>
              </a:rPr>
              <a:t>Architecture conçue et choix structurants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1773936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9AB0CC"/>
                </a:solidFill>
                <a:latin typeface="Segoe UI"/>
              </a:rPr>
              <a:t>1 à 2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66960" y="1737360"/>
            <a:ext cx="960120" cy="301752"/>
          </a:xfrm>
          <a:prstGeom prst="roundRect">
            <a:avLst>
              <a:gd name="adj" fmla="val 8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0" y="1783080"/>
            <a:ext cx="960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D1522"/>
                </a:solidFill>
                <a:latin typeface="Segoe UI"/>
              </a:rPr>
              <a:t>EXPOSÉ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286000"/>
            <a:ext cx="10835640" cy="576072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286000"/>
            <a:ext cx="64008" cy="576072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414016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F7A1A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441448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E9EFF7"/>
                </a:solidFill>
                <a:latin typeface="Segoe UI"/>
              </a:rPr>
              <a:t>Revue du docker-compose : services, réseau, volumes, 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459736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9AB0CC"/>
                </a:solidFill>
                <a:latin typeface="Segoe UI"/>
              </a:rPr>
              <a:t>1 à 2 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66960" y="2423160"/>
            <a:ext cx="960120" cy="301752"/>
          </a:xfrm>
          <a:prstGeom prst="roundRect">
            <a:avLst>
              <a:gd name="adj" fmla="val 8000"/>
            </a:avLst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0" y="2468880"/>
            <a:ext cx="960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D1522"/>
                </a:solidFill>
                <a:latin typeface="Segoe UI"/>
              </a:rPr>
              <a:t>ÉCRAN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971800"/>
            <a:ext cx="10835640" cy="576072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2971800"/>
            <a:ext cx="64008" cy="576072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099816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F7A1A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127248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E9EFF7"/>
                </a:solidFill>
                <a:latin typeface="Segoe UI"/>
              </a:rPr>
              <a:t>Flow NiFi : processeurs, dépôt MinIO, routage, erreurs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3145536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9AB0CC"/>
                </a:solidFill>
                <a:latin typeface="Segoe UI"/>
              </a:rPr>
              <a:t>3 min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66960" y="3108960"/>
            <a:ext cx="960120" cy="301752"/>
          </a:xfrm>
          <a:prstGeom prst="roundRect">
            <a:avLst>
              <a:gd name="adj" fmla="val 8000"/>
            </a:avLst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60" y="3154680"/>
            <a:ext cx="960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D1522"/>
                </a:solidFill>
                <a:latin typeface="Segoe UI"/>
              </a:rPr>
              <a:t>ÉCRAN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657600"/>
            <a:ext cx="10835640" cy="576072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3657600"/>
            <a:ext cx="64008" cy="576072"/>
          </a:xfrm>
          <a:prstGeom prst="rect">
            <a:avLst/>
          </a:prstGeom>
          <a:solidFill>
            <a:srgbClr val="4CA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3785616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4CA5FF"/>
                </a:solidFill>
                <a:latin typeface="Segoe U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3813048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E9EFF7"/>
                </a:solidFill>
                <a:latin typeface="Segoe UI"/>
              </a:rPr>
              <a:t>Jobs Spark du médaillon Bronze / Silver / Gold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3831336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9AB0CC"/>
                </a:solidFill>
                <a:latin typeface="Segoe UI"/>
              </a:rPr>
              <a:t>2 à 3 min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66960" y="3794760"/>
            <a:ext cx="960120" cy="301752"/>
          </a:xfrm>
          <a:prstGeom prst="roundRect">
            <a:avLst>
              <a:gd name="adj" fmla="val 8000"/>
            </a:avLst>
          </a:prstGeom>
          <a:solidFill>
            <a:srgbClr val="4CA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66960" y="3840480"/>
            <a:ext cx="960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D1522"/>
                </a:solidFill>
                <a:latin typeface="Segoe UI"/>
              </a:rPr>
              <a:t>ÉCRAN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4343400"/>
            <a:ext cx="10835640" cy="576072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5800" y="4343400"/>
            <a:ext cx="64008" cy="576072"/>
          </a:xfrm>
          <a:prstGeom prst="rect">
            <a:avLst/>
          </a:prstGeom>
          <a:solidFill>
            <a:srgbClr val="A9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4471416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A98BFF"/>
                </a:solidFill>
                <a:latin typeface="Segoe U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4498848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E9EFF7"/>
                </a:solidFill>
                <a:latin typeface="Segoe UI"/>
              </a:rPr>
              <a:t>Test Dremio : par couche, jointure, agrégation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49640" y="4517136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9AB0CC"/>
                </a:solidFill>
                <a:latin typeface="Segoe UI"/>
              </a:rPr>
              <a:t>2 à 3 min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966960" y="4480560"/>
            <a:ext cx="960120" cy="301752"/>
          </a:xfrm>
          <a:prstGeom prst="roundRect">
            <a:avLst>
              <a:gd name="adj" fmla="val 8000"/>
            </a:avLst>
          </a:prstGeom>
          <a:solidFill>
            <a:srgbClr val="A9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66960" y="4526280"/>
            <a:ext cx="960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D1522"/>
                </a:solidFill>
                <a:latin typeface="Segoe UI"/>
              </a:rPr>
              <a:t>ÉCRAN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5029200"/>
            <a:ext cx="10835640" cy="576072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85800" y="5029200"/>
            <a:ext cx="64008" cy="576072"/>
          </a:xfrm>
          <a:prstGeom prst="rect">
            <a:avLst/>
          </a:prstGeom>
          <a:solidFill>
            <a:srgbClr val="5AD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0120" y="5157216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5AD18B"/>
                </a:solidFill>
                <a:latin typeface="Segoe UI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63040" y="5184648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E9EFF7"/>
                </a:solidFill>
                <a:latin typeface="Segoe UI"/>
              </a:rPr>
              <a:t>Démonstration de bout en bout, en direct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49640" y="5202936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9AB0CC"/>
                </a:solidFill>
                <a:latin typeface="Segoe UI"/>
              </a:rPr>
              <a:t>2 à 3 min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966960" y="5166360"/>
            <a:ext cx="960120" cy="301752"/>
          </a:xfrm>
          <a:prstGeom prst="roundRect">
            <a:avLst>
              <a:gd name="adj" fmla="val 8000"/>
            </a:avLst>
          </a:prstGeom>
          <a:solidFill>
            <a:srgbClr val="5AD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66960" y="5212080"/>
            <a:ext cx="960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D1522"/>
                </a:solidFill>
                <a:latin typeface="Segoe UI"/>
              </a:rPr>
              <a:t>ÉCRAN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5800" y="5715000"/>
            <a:ext cx="10835640" cy="576072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85800" y="5715000"/>
            <a:ext cx="64008" cy="57607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0120" y="5843016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EC4B6"/>
                </a:solidFill>
                <a:latin typeface="Segoe UI"/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63040" y="5870448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E9EFF7"/>
                </a:solidFill>
                <a:latin typeface="Segoe UI"/>
              </a:rPr>
              <a:t>Bilan : difficultés, choix, bonus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49640" y="5888736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9AB0CC"/>
                </a:solidFill>
                <a:latin typeface="Segoe UI"/>
              </a:rPr>
              <a:t>1 min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966960" y="5852160"/>
            <a:ext cx="960120" cy="301752"/>
          </a:xfrm>
          <a:prstGeom prst="roundRect">
            <a:avLst>
              <a:gd name="adj" fmla="val 8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66960" y="5897880"/>
            <a:ext cx="960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D1522"/>
                </a:solidFill>
                <a:latin typeface="Segoe UI"/>
              </a:rPr>
              <a:t>EXPOSÉ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" y="6327648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AB0CC"/>
                </a:solidFill>
                <a:latin typeface="Segoe UI"/>
              </a:rPr>
              <a:t>Cinq séquences sur sept se déroulent sur l'écran réel — les diapositives ne servent qu'à structurer.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14173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9EFF7"/>
                </a:solidFill>
                <a:latin typeface="Segoe UI"/>
              </a:rPr>
              <a:t>Ce qui est imposé, ce que j'ai conçu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AB0CC"/>
                </a:solidFill>
                <a:latin typeface="Segoe UI"/>
              </a:rPr>
              <a:t>Le sujet est un cahier des charges, pas une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5257800" cy="4480560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5257800" cy="457200"/>
          </a:xfrm>
          <a:prstGeom prst="roundRect">
            <a:avLst>
              <a:gd name="adj" fmla="val 8000"/>
            </a:avLst>
          </a:prstGeom>
          <a:solidFill>
            <a:srgbClr val="1E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733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AB0CC"/>
                </a:solidFill>
                <a:latin typeface="Segoe UI"/>
              </a:rPr>
              <a:t>IMPOSÉ PAR LE SUJET</a:t>
            </a:r>
          </a:p>
        </p:txBody>
      </p:sp>
      <p:sp>
        <p:nvSpPr>
          <p:cNvPr id="8" name="Rectangle 7"/>
          <p:cNvSpPr/>
          <p:nvPr/>
        </p:nvSpPr>
        <p:spPr>
          <a:xfrm>
            <a:off x="978408" y="2249424"/>
            <a:ext cx="100584" cy="100584"/>
          </a:xfrm>
          <a:prstGeom prst="rect">
            <a:avLst/>
          </a:prstGeom>
          <a:solidFill>
            <a:srgbClr val="9AB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16152" y="21488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9EFF7"/>
                </a:solidFill>
                <a:latin typeface="Segoe UI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14884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B0CC"/>
                </a:solidFill>
                <a:latin typeface="Segoe UI"/>
              </a:rPr>
              <a:t>FakeStoreAPI — aucun CSV statique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78408" y="2660904"/>
            <a:ext cx="100584" cy="100584"/>
          </a:xfrm>
          <a:prstGeom prst="rect">
            <a:avLst/>
          </a:prstGeom>
          <a:solidFill>
            <a:srgbClr val="9AB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16152" y="25603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9EFF7"/>
                </a:solidFill>
                <a:latin typeface="Segoe UI"/>
              </a:rPr>
              <a:t>Ingestion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5603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B0CC"/>
                </a:solidFill>
                <a:latin typeface="Segoe UI"/>
              </a:rPr>
              <a:t>NiFi seul point d'entrée, sans transformation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8408" y="3072384"/>
            <a:ext cx="100584" cy="100584"/>
          </a:xfrm>
          <a:prstGeom prst="rect">
            <a:avLst/>
          </a:prstGeom>
          <a:solidFill>
            <a:srgbClr val="9AB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16152" y="29718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9EFF7"/>
                </a:solidFill>
                <a:latin typeface="Segoe UI"/>
              </a:rPr>
              <a:t>Stockage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297180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B0CC"/>
                </a:solidFill>
                <a:latin typeface="Segoe UI"/>
              </a:rPr>
              <a:t>MinIO — zone brute séparée du warehouse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8408" y="3483864"/>
            <a:ext cx="100584" cy="100584"/>
          </a:xfrm>
          <a:prstGeom prst="rect">
            <a:avLst/>
          </a:prstGeom>
          <a:solidFill>
            <a:srgbClr val="9AB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16152" y="338328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9EFF7"/>
                </a:solidFill>
                <a:latin typeface="Segoe UI"/>
              </a:rPr>
              <a:t>Format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338328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B0CC"/>
                </a:solidFill>
                <a:latin typeface="Segoe UI"/>
              </a:rPr>
              <a:t>Iceberg, catalogue Project Nessie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8408" y="3895344"/>
            <a:ext cx="100584" cy="100584"/>
          </a:xfrm>
          <a:prstGeom prst="rect">
            <a:avLst/>
          </a:prstGeom>
          <a:solidFill>
            <a:srgbClr val="9AB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16152" y="379476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9EFF7"/>
                </a:solidFill>
                <a:latin typeface="Segoe UI"/>
              </a:rPr>
              <a:t>Traitement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379476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B0CC"/>
                </a:solidFill>
                <a:latin typeface="Segoe UI"/>
              </a:rPr>
              <a:t>Spark : 1 master + au moins 1 worker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8408" y="4306824"/>
            <a:ext cx="100584" cy="100584"/>
          </a:xfrm>
          <a:prstGeom prst="rect">
            <a:avLst/>
          </a:prstGeom>
          <a:solidFill>
            <a:srgbClr val="9AB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16152" y="4206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9EFF7"/>
                </a:solidFill>
                <a:latin typeface="Segoe UI"/>
              </a:rPr>
              <a:t>Orchestration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420624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B0CC"/>
                </a:solidFill>
                <a:latin typeface="Segoe UI"/>
              </a:rPr>
              <a:t>Airflow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8408" y="4718304"/>
            <a:ext cx="100584" cy="100584"/>
          </a:xfrm>
          <a:prstGeom prst="rect">
            <a:avLst/>
          </a:prstGeom>
          <a:solidFill>
            <a:srgbClr val="9AB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16152" y="46177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9EFF7"/>
                </a:solidFill>
                <a:latin typeface="Segoe UI"/>
              </a:rPr>
              <a:t>Requêtage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06040" y="46177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B0CC"/>
                </a:solidFill>
                <a:latin typeface="Segoe UI"/>
              </a:rPr>
              <a:t>Dremio OSS — sans substitut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8408" y="5129784"/>
            <a:ext cx="100584" cy="100584"/>
          </a:xfrm>
          <a:prstGeom prst="rect">
            <a:avLst/>
          </a:prstGeom>
          <a:solidFill>
            <a:srgbClr val="9AB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16152" y="50292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9EFF7"/>
                </a:solidFill>
                <a:latin typeface="Segoe UI"/>
              </a:rPr>
              <a:t>Supervision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06040" y="502920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B0CC"/>
                </a:solidFill>
                <a:latin typeface="Segoe UI"/>
              </a:rPr>
              <a:t>Prometheus + Grafana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78408" y="5541264"/>
            <a:ext cx="100584" cy="100584"/>
          </a:xfrm>
          <a:prstGeom prst="rect">
            <a:avLst/>
          </a:prstGeom>
          <a:solidFill>
            <a:srgbClr val="9AB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16152" y="544068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9EFF7"/>
                </a:solidFill>
                <a:latin typeface="Segoe UI"/>
              </a:rPr>
              <a:t>Historique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06040" y="544068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B0CC"/>
                </a:solidFill>
                <a:latin typeface="Segoe UI"/>
              </a:rPr>
              <a:t>environ 6 mois de données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1554480"/>
            <a:ext cx="5257800" cy="4480560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63640" y="1554480"/>
            <a:ext cx="5257800" cy="457200"/>
          </a:xfrm>
          <a:prstGeom prst="roundRect">
            <a:avLst>
              <a:gd name="adj" fmla="val 8000"/>
            </a:avLst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16733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D1522"/>
                </a:solidFill>
                <a:latin typeface="Segoe UI"/>
              </a:rPr>
              <a:t>DE MA CONCEPTION — ET DONC ÉVALUÉ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56248" y="2249424"/>
            <a:ext cx="100584" cy="100584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93992" y="214884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9EFF7"/>
                </a:solidFill>
                <a:latin typeface="Segoe UI"/>
              </a:rPr>
              <a:t>Topologie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214884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B0CC"/>
                </a:solidFill>
                <a:latin typeface="Segoe UI"/>
              </a:rPr>
              <a:t>11 services, 1 réseau, 13 volumes, ordre de boot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56248" y="2660904"/>
            <a:ext cx="100584" cy="100584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93992" y="25603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9EFF7"/>
                </a:solidFill>
                <a:latin typeface="Segoe UI"/>
              </a:rPr>
              <a:t>Flow NiFi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5320" y="256032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B0CC"/>
                </a:solidFill>
                <a:latin typeface="Segoe UI"/>
              </a:rPr>
              <a:t>12 processeurs, 3 chemins de reprise, file de rebut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56248" y="3072384"/>
            <a:ext cx="100584" cy="100584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93992" y="297180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9EFF7"/>
                </a:solidFill>
                <a:latin typeface="Segoe UI"/>
              </a:rPr>
              <a:t>Zone brute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75320" y="297180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B0CC"/>
                </a:solidFill>
                <a:latin typeface="Segoe UI"/>
              </a:rPr>
              <a:t>convention de clés partitionnée par date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56248" y="3483864"/>
            <a:ext cx="100584" cy="100584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93992" y="338328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9EFF7"/>
                </a:solidFill>
                <a:latin typeface="Segoe UI"/>
              </a:rPr>
              <a:t>Médaillon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5320" y="33832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B0CC"/>
                </a:solidFill>
                <a:latin typeface="Segoe UI"/>
              </a:rPr>
              <a:t>contrat de chaque couche, 10 tables Iceberg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56248" y="3895344"/>
            <a:ext cx="100584" cy="100584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93992" y="379476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9EFF7"/>
                </a:solidFill>
                <a:latin typeface="Segoe UI"/>
              </a:rPr>
              <a:t>Historisation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75320" y="379476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B0CC"/>
                </a:solidFill>
                <a:latin typeface="Segoe UI"/>
              </a:rPr>
              <a:t>modèle déterministe à 3 niveaux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56248" y="4306824"/>
            <a:ext cx="100584" cy="100584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93992" y="420624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9EFF7"/>
                </a:solidFill>
                <a:latin typeface="Segoe UI"/>
              </a:rPr>
              <a:t>Orchestration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75320" y="420624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B0CC"/>
                </a:solidFill>
                <a:latin typeface="Segoe UI"/>
              </a:rPr>
              <a:t>3 DAGs, option A justifiée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56248" y="4718304"/>
            <a:ext cx="100584" cy="100584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793992" y="46177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9EFF7"/>
                </a:solidFill>
                <a:latin typeface="Segoe UI"/>
              </a:rPr>
              <a:t>Idempotence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75320" y="461772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B0CC"/>
                </a:solidFill>
                <a:latin typeface="Segoe UI"/>
              </a:rPr>
              <a:t>cache NiFi + overwritePartitions Spark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556248" y="5129784"/>
            <a:ext cx="100584" cy="100584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793992" y="502920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9EFF7"/>
                </a:solidFill>
                <a:latin typeface="Segoe UI"/>
              </a:rPr>
              <a:t>Qualité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75320" y="502920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B0CC"/>
                </a:solidFill>
                <a:latin typeface="Segoe UI"/>
              </a:rPr>
              <a:t>7 contrôles dont une réconciliation croisée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56248" y="5541264"/>
            <a:ext cx="100584" cy="100584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793992" y="544068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9EFF7"/>
                </a:solidFill>
                <a:latin typeface="Segoe UI"/>
              </a:rPr>
              <a:t>Restitution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75320" y="54406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B0CC"/>
                </a:solidFill>
                <a:latin typeface="Segoe UI"/>
              </a:rPr>
              <a:t>10 requêtes de validation + 3 vues Dremio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1417320"/>
          </a:xfrm>
          <a:prstGeom prst="rect">
            <a:avLst/>
          </a:prstGeom>
          <a:solidFill>
            <a:srgbClr val="4CA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9EFF7"/>
                </a:solidFill>
                <a:latin typeface="Segoe UI"/>
              </a:rPr>
              <a:t>Architecture de la plateforme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AB0CC"/>
                </a:solidFill>
                <a:latin typeface="Segoe UI"/>
              </a:rPr>
              <a:t>Un seul réseau Docker — chaque service en désigne un autre par son nom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72768"/>
            <a:ext cx="1828800" cy="868680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 w="20320">
            <a:solidFill>
              <a:srgbClr val="9A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1682496"/>
            <a:ext cx="15727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9AB0CC"/>
                </a:solidFill>
                <a:latin typeface="Segoe UI"/>
              </a:rPr>
              <a:t>FakeStoreAPI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" y="1975104"/>
            <a:ext cx="15727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9AB0CC"/>
                </a:solidFill>
                <a:latin typeface="Segoe UI"/>
              </a:rPr>
              <a:t>/products</a:t>
            </a:r>
          </a:p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9AB0CC"/>
                </a:solidFill>
                <a:latin typeface="Segoe UI"/>
              </a:rPr>
              <a:t>/users · /carts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463040"/>
            <a:ext cx="2331720" cy="1097280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 w="20320">
            <a:solidFill>
              <a:srgbClr val="FF7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08376" y="1572768"/>
            <a:ext cx="20756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7A1A"/>
                </a:solidFill>
                <a:latin typeface="Segoe UI"/>
              </a:rPr>
              <a:t>APACHE NIFI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8376" y="1865376"/>
            <a:ext cx="207568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9AB0CC"/>
                </a:solidFill>
                <a:latin typeface="Segoe UI"/>
              </a:rPr>
              <a:t>unique point d'ingestion</a:t>
            </a:r>
          </a:p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9AB0CC"/>
                </a:solidFill>
                <a:latin typeface="Segoe UI"/>
              </a:rPr>
              <a:t>collecte · contrôle · dépôt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1463040"/>
            <a:ext cx="2514600" cy="1097280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 w="2032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05856" y="1572768"/>
            <a:ext cx="22585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2EC4B6"/>
                </a:solidFill>
                <a:latin typeface="Segoe UI"/>
              </a:rPr>
              <a:t>MinIO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05856" y="1865376"/>
            <a:ext cx="225856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9AB0CC"/>
                </a:solidFill>
                <a:latin typeface="Segoe UI"/>
              </a:rPr>
              <a:t>lakehouse-raw  (JSON)</a:t>
            </a:r>
          </a:p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9AB0CC"/>
                </a:solidFill>
                <a:latin typeface="Segoe UI"/>
              </a:rPr>
              <a:t>lakehouse-warehouse  (Parquet)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1463040"/>
            <a:ext cx="3017520" cy="1097280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 w="2032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86216" y="1572768"/>
            <a:ext cx="2761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2EC4B6"/>
                </a:solidFill>
                <a:latin typeface="Segoe UI"/>
              </a:rPr>
              <a:t>PROJECT NESSIE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86216" y="1865376"/>
            <a:ext cx="276148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9AB0CC"/>
                </a:solidFill>
                <a:latin typeface="Segoe UI"/>
              </a:rPr>
              <a:t>catalogue Iceberg versionné</a:t>
            </a:r>
          </a:p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9AB0CC"/>
                </a:solidFill>
                <a:latin typeface="Segoe UI"/>
              </a:rPr>
              <a:t>version store JDBC PostgreSQL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80360" y="2971800"/>
            <a:ext cx="5212080" cy="1234440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 w="20320">
            <a:solidFill>
              <a:srgbClr val="4CA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08376" y="3081528"/>
            <a:ext cx="4956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4CA5FF"/>
                </a:solidFill>
                <a:latin typeface="Segoe UI"/>
              </a:rPr>
              <a:t>APACHE SPARK — 1 master + 2 workers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8376" y="3374136"/>
            <a:ext cx="495604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9AB0CC"/>
                </a:solidFill>
                <a:latin typeface="Segoe UI"/>
              </a:rPr>
              <a:t>bronze.raw_*   →   silver.dim_* / fct_*   →   gold.gold_*</a:t>
            </a:r>
          </a:p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9AB0CC"/>
                </a:solidFill>
                <a:latin typeface="Segoe UI"/>
              </a:rPr>
              <a:t>10 tables Apache Iceberg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2971800"/>
            <a:ext cx="1828800" cy="1234440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 w="20320">
            <a:solidFill>
              <a:srgbClr val="4CA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" y="3081528"/>
            <a:ext cx="15727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4CA5FF"/>
                </a:solidFill>
                <a:latin typeface="Segoe UI"/>
              </a:rPr>
              <a:t>AIRFLOW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" y="3374136"/>
            <a:ext cx="157276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9AB0CC"/>
                </a:solidFill>
                <a:latin typeface="Segoe UI"/>
              </a:rPr>
              <a:t>backfill</a:t>
            </a:r>
          </a:p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9AB0CC"/>
                </a:solidFill>
                <a:latin typeface="Segoe UI"/>
              </a:rPr>
              <a:t>ingestion</a:t>
            </a:r>
          </a:p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9AB0CC"/>
                </a:solidFill>
                <a:latin typeface="Segoe UI"/>
              </a:rPr>
              <a:t>médaillon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58200" y="2971800"/>
            <a:ext cx="3017520" cy="1234440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 w="20320">
            <a:solidFill>
              <a:srgbClr val="A9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86216" y="3081528"/>
            <a:ext cx="2761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A98BFF"/>
                </a:solidFill>
                <a:latin typeface="Segoe UI"/>
              </a:rPr>
              <a:t>DREMIO OSS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86216" y="3374136"/>
            <a:ext cx="276148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9AB0CC"/>
                </a:solidFill>
                <a:latin typeface="Segoe UI"/>
              </a:rPr>
              <a:t>moteur SQL du lakehouse</a:t>
            </a:r>
          </a:p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9AB0CC"/>
                </a:solidFill>
                <a:latin typeface="Segoe UI"/>
              </a:rPr>
              <a:t>10 requêtes de validation</a:t>
            </a:r>
          </a:p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9AB0CC"/>
                </a:solidFill>
                <a:latin typeface="Segoe UI"/>
              </a:rPr>
              <a:t>3 vues métier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663440"/>
            <a:ext cx="3749039" cy="868680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 w="20320">
            <a:solidFill>
              <a:srgbClr val="9A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" y="4773168"/>
            <a:ext cx="34930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9AB0CC"/>
                </a:solidFill>
                <a:latin typeface="Segoe UI"/>
              </a:rPr>
              <a:t>PostgreSQL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" y="5065776"/>
            <a:ext cx="34930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9AB0CC"/>
                </a:solidFill>
                <a:latin typeface="Segoe UI"/>
              </a:rPr>
              <a:t>métadonnées Airflow + Nessie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09160" y="4663440"/>
            <a:ext cx="6766560" cy="868680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 w="20320">
            <a:solidFill>
              <a:srgbClr val="9A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37176" y="4773168"/>
            <a:ext cx="65105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9AB0CC"/>
                </a:solidFill>
                <a:latin typeface="Segoe UI"/>
              </a:rPr>
              <a:t>Prometheus + Grafana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37176" y="5065776"/>
            <a:ext cx="6510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9AB0CC"/>
                </a:solidFill>
                <a:latin typeface="Segoe UI"/>
              </a:rPr>
              <a:t>infrastructure · NiFi (débit d'ingestion) · MinIO · Nessie · Spark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240280" y="2011680"/>
            <a:ext cx="548640" cy="0"/>
          </a:xfrm>
          <a:prstGeom prst="line">
            <a:avLst/>
          </a:prstGeom>
          <a:ln w="27940">
            <a:solidFill>
              <a:srgbClr val="FF7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166360" y="2011680"/>
            <a:ext cx="411480" cy="0"/>
          </a:xfrm>
          <a:prstGeom prst="line">
            <a:avLst/>
          </a:prstGeom>
          <a:ln w="27940">
            <a:solidFill>
              <a:srgbClr val="FF7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092440" y="2011680"/>
            <a:ext cx="365760" cy="0"/>
          </a:xfrm>
          <a:prstGeom prst="line">
            <a:avLst/>
          </a:prstGeom>
          <a:ln w="25400">
            <a:solidFill>
              <a:srgbClr val="2EC4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766560" y="2560320"/>
            <a:ext cx="0" cy="411480"/>
          </a:xfrm>
          <a:prstGeom prst="line">
            <a:avLst/>
          </a:prstGeom>
          <a:ln w="25400">
            <a:solidFill>
              <a:srgbClr val="4CA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514600" y="3584448"/>
            <a:ext cx="365760" cy="0"/>
          </a:xfrm>
          <a:prstGeom prst="line">
            <a:avLst/>
          </a:prstGeom>
          <a:ln w="25400">
            <a:solidFill>
              <a:srgbClr val="4CA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092440" y="3584448"/>
            <a:ext cx="365760" cy="0"/>
          </a:xfrm>
          <a:prstGeom prst="line">
            <a:avLst/>
          </a:prstGeom>
          <a:ln w="25400">
            <a:solidFill>
              <a:srgbClr val="A98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966960" y="2560320"/>
            <a:ext cx="0" cy="411480"/>
          </a:xfrm>
          <a:prstGeom prst="line">
            <a:avLst/>
          </a:prstGeom>
          <a:ln w="25400">
            <a:solidFill>
              <a:srgbClr val="A98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240280" y="173736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7A1A"/>
                </a:solidFill>
                <a:latin typeface="Segoe UI"/>
              </a:rPr>
              <a:t>HTTP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66360" y="1737360"/>
            <a:ext cx="411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7A1A"/>
                </a:solidFill>
                <a:latin typeface="Segoe UI"/>
              </a:rPr>
              <a:t>S3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6327648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AB0CC"/>
                </a:solidFill>
                <a:latin typeface="Segoe UI"/>
              </a:rPr>
              <a:t>Aucune adresse IP dans la configuration : la résolution DNS du réseau « lakehouse » fait tout le travail.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6327648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AB0CC"/>
                </a:solidFill>
                <a:latin typeface="Segoe UI"/>
              </a:rPr>
              <a:t>docs/architecture.md §1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1417320"/>
          </a:xfrm>
          <a:prstGeom prst="rect">
            <a:avLst/>
          </a:prstGeom>
          <a:solidFill>
            <a:srgbClr val="4CA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9EFF7"/>
                </a:solidFill>
                <a:latin typeface="Segoe UI"/>
              </a:rPr>
              <a:t>Quatre choix structurants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AB0CC"/>
                </a:solidFill>
                <a:latin typeface="Segoe UI"/>
              </a:rPr>
              <a:t>Et l'alternative écartée à chaque fois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257800" cy="2011680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45920"/>
            <a:ext cx="68580" cy="2011680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828800"/>
            <a:ext cx="4800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7A1A"/>
                </a:solidFill>
                <a:latin typeface="Segoe UI"/>
              </a:rPr>
              <a:t>NiFi déclenché par ListenHTTP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249424"/>
            <a:ext cx="48006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9AB0CC"/>
                </a:solidFill>
                <a:latin typeface="Segoe UI"/>
              </a:rPr>
              <a:t>Airflow POSTe {snapshot_date, domains}.</a:t>
            </a:r>
          </a:p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9AB0CC"/>
                </a:solidFill>
                <a:latin typeface="Segoe UI"/>
              </a:rPr>
              <a:t/>
            </a:r>
          </a:p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9AB0CC"/>
                </a:solidFill>
                <a:latin typeface="Segoe UI"/>
              </a:rPr>
              <a:t>Écarté : GenerateFlowFile planifié — il ne sait ingérer que « maintenant », ce qui rend le backfill de 6 mois impossible.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45920"/>
            <a:ext cx="5257800" cy="2011680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45920"/>
            <a:ext cx="68580" cy="2011680"/>
          </a:xfrm>
          <a:prstGeom prst="rect">
            <a:avLst/>
          </a:prstGeom>
          <a:solidFill>
            <a:srgbClr val="4CA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1828800"/>
            <a:ext cx="4800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4CA5FF"/>
                </a:solidFill>
                <a:latin typeface="Segoe UI"/>
              </a:rPr>
              <a:t>Airflow observe, il n'attend pas de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249424"/>
            <a:ext cx="48006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9AB0CC"/>
                </a:solidFill>
                <a:latin typeface="Segoe UI"/>
              </a:rPr>
              <a:t>Option A du sujet : le DAG inspecte la zone brute.</a:t>
            </a:r>
          </a:p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9AB0CC"/>
                </a:solidFill>
                <a:latin typeface="Segoe UI"/>
              </a:rPr>
              <a:t/>
            </a:r>
          </a:p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9AB0CC"/>
                </a:solidFill>
                <a:latin typeface="Segoe UI"/>
              </a:rPr>
              <a:t>Écarté : option B seule — un signal perdu fait disparaître les données en silence. L'option B reste câblée et démontrable.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886200"/>
            <a:ext cx="5257800" cy="2011680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886200"/>
            <a:ext cx="68580" cy="201168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4069080"/>
            <a:ext cx="4800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EC4B6"/>
                </a:solidFill>
                <a:latin typeface="Segoe UI"/>
              </a:rPr>
              <a:t>JARs embarqués dans l'image Spark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4489704"/>
            <a:ext cx="48006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9AB0CC"/>
                </a:solidFill>
                <a:latin typeface="Segoe UI"/>
              </a:rPr>
              <a:t>Iceberg 1.5.2 + Nessie 0.77.1 + S3A figés.</a:t>
            </a:r>
          </a:p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9AB0CC"/>
                </a:solidFill>
                <a:latin typeface="Segoe UI"/>
              </a:rPr>
              <a:t/>
            </a:r>
          </a:p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9AB0CC"/>
                </a:solidFill>
                <a:latin typeface="Segoe UI"/>
              </a:rPr>
              <a:t>Écarté : --packages au spark-submit — résolution Maven à chaque run, dérive possible entre driver et executors.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886200"/>
            <a:ext cx="5257800" cy="2011680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886200"/>
            <a:ext cx="68580" cy="2011680"/>
          </a:xfrm>
          <a:prstGeom prst="rect">
            <a:avLst/>
          </a:prstGeom>
          <a:solidFill>
            <a:srgbClr val="E0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4069080"/>
            <a:ext cx="4800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0B44A"/>
                </a:solidFill>
                <a:latin typeface="Segoe UI"/>
              </a:rPr>
              <a:t>Gold recalculé intégralement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4489704"/>
            <a:ext cx="48006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9AB0CC"/>
                </a:solidFill>
                <a:latin typeface="Segoe UI"/>
              </a:rPr>
              <a:t>createOrReplace : un nouveau snapshot Iceberg, pas un effacement.</a:t>
            </a:r>
          </a:p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9AB0CC"/>
                </a:solidFill>
                <a:latin typeface="Segoe UI"/>
              </a:rPr>
              <a:t/>
            </a:r>
          </a:p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9AB0CC"/>
                </a:solidFill>
                <a:latin typeface="Segoe UI"/>
              </a:rPr>
              <a:t>Écarté : MERGE incrémental — aucun gain sur ce volume, et un agrégat peut dériver silencieusement.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"/>
            <a:ext cx="6400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D1522"/>
                </a:solidFill>
                <a:latin typeface="Segoe UI"/>
              </a:rPr>
              <a:t>À L'ÉCRAN — DÉMONSTRATION EN DIRECT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45720"/>
            <a:ext cx="2926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0D1522"/>
                </a:solidFill>
                <a:latin typeface="Segoe UI"/>
              </a:rPr>
              <a:t>Séquence 2 · 1 à 2 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310896"/>
            <a:ext cx="12191695" cy="274320"/>
          </a:xfrm>
          <a:prstGeom prst="rect">
            <a:avLst/>
          </a:prstGeom>
          <a:solidFill>
            <a:srgbClr val="1E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38328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00" b="1" i="0">
                <a:solidFill>
                  <a:srgbClr val="FF7A1A"/>
                </a:solidFill>
                <a:latin typeface="Consolas"/>
              </a:rPr>
              <a:t>ACCÈS   </a:t>
            </a:r>
            <a:r>
              <a:rPr sz="1100" b="0" i="0">
                <a:solidFill>
                  <a:srgbClr val="E9EFF7"/>
                </a:solidFill>
                <a:latin typeface="Consolas"/>
              </a:rPr>
              <a:t>ssh ec2-user@54.175.16.1   ·   clé : data_megane.pem (authentification par clé, sans mot de passe)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00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9EFF7"/>
                </a:solidFill>
                <a:latin typeface="Segoe UI"/>
              </a:rPr>
              <a:t>Revue du docker-compose.yml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1887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7A1A"/>
                </a:solidFill>
                <a:latin typeface="Segoe UI"/>
              </a:rPr>
              <a:t>486 lignes au total — voici les grandes lignes, en extraits commentés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45920"/>
            <a:ext cx="6903720" cy="4343400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45920"/>
            <a:ext cx="64008" cy="4343400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783080"/>
            <a:ext cx="65836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1" i="0">
                <a:solidFill>
                  <a:srgbClr val="FF7A1A"/>
                </a:solidFill>
                <a:latin typeface="Consolas"/>
              </a:rPr>
              <a:t>networks: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50" b="0" i="0">
                <a:solidFill>
                  <a:srgbClr val="E9EFF7"/>
                </a:solidFill>
                <a:latin typeface="Consolas"/>
              </a:rPr>
              <a:t>  lakehouse:</a:t>
            </a:r>
            <a:r>
              <a:rPr sz="1050" b="0" i="0">
                <a:solidFill>
                  <a:srgbClr val="5AD18B"/>
                </a:solidFill>
                <a:latin typeface="Consolas"/>
              </a:rPr>
              <a:t>   # 1 seul réseau bridge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50" b="0" i="0">
                <a:solidFill>
                  <a:srgbClr val="E9EFF7"/>
                </a:solidFill>
                <a:latin typeface="Consolas"/>
              </a:rPr>
              <a:t>    driver: bridge</a:t>
            </a:r>
            <a:r>
              <a:rPr sz="1050" b="0" i="0">
                <a:solidFill>
                  <a:srgbClr val="5AD18B"/>
                </a:solidFill>
                <a:latin typeface="Consolas"/>
              </a:rPr>
              <a:t>  # DNS par nom de service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sz="500" b="0" i="0">
                <a:solidFill>
                  <a:srgbClr val="E9EFF7"/>
                </a:solidFill>
                <a:latin typeface="Consolas"/>
              </a:rPr>
              <a:t> 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50" b="1" i="0">
                <a:solidFill>
                  <a:srgbClr val="FF7A1A"/>
                </a:solidFill>
                <a:latin typeface="Consolas"/>
              </a:rPr>
              <a:t>x-spark-env: &amp;spark-env</a:t>
            </a:r>
            <a:r>
              <a:rPr sz="1050" b="0" i="0">
                <a:solidFill>
                  <a:srgbClr val="5AD18B"/>
                </a:solidFill>
                <a:latin typeface="Consolas"/>
              </a:rPr>
              <a:t>  # ancre YAML réutilisée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50" b="0" i="0">
                <a:solidFill>
                  <a:srgbClr val="E9EFF7"/>
                </a:solidFill>
                <a:latin typeface="Consolas"/>
              </a:rPr>
              <a:t>  MINIO_ENDPOINT: http://minio:9000</a:t>
            </a:r>
            <a:r>
              <a:rPr sz="1050" b="0" i="0">
                <a:solidFill>
                  <a:srgbClr val="5AD18B"/>
                </a:solidFill>
                <a:latin typeface="Consolas"/>
              </a:rPr>
              <a:t>  # pas localhost !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50" b="0" i="0">
                <a:solidFill>
                  <a:srgbClr val="E9EFF7"/>
                </a:solidFill>
                <a:latin typeface="Consolas"/>
              </a:rPr>
              <a:t>  NESSIE_URI: http://nessie:19120/api/v2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sz="500" b="0" i="0">
                <a:solidFill>
                  <a:srgbClr val="E9EFF7"/>
                </a:solidFill>
                <a:latin typeface="Consolas"/>
              </a:rPr>
              <a:t> 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50" b="1" i="0">
                <a:solidFill>
                  <a:srgbClr val="FF7A1A"/>
                </a:solidFill>
                <a:latin typeface="Consolas"/>
              </a:rPr>
              <a:t>  nifi:</a:t>
            </a:r>
            <a:r>
              <a:rPr sz="1050" b="0" i="0">
                <a:solidFill>
                  <a:srgbClr val="5AD18B"/>
                </a:solidFill>
                <a:latin typeface="Consolas"/>
              </a:rPr>
              <a:t>   # apache/nifi:1.28.1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50" b="0" i="0">
                <a:solidFill>
                  <a:srgbClr val="E9EFF7"/>
                </a:solidFill>
                <a:latin typeface="Consolas"/>
              </a:rPr>
              <a:t>    ports: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50" b="0" i="0">
                <a:solidFill>
                  <a:srgbClr val="E9EFF7"/>
                </a:solidFill>
                <a:latin typeface="Consolas"/>
              </a:rPr>
              <a:t>      - "8080:8080"</a:t>
            </a:r>
            <a:r>
              <a:rPr sz="1050" b="0" i="0">
                <a:solidFill>
                  <a:srgbClr val="5AD18B"/>
                </a:solidFill>
                <a:latin typeface="Consolas"/>
              </a:rPr>
              <a:t>   # UI NiFi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50" b="0" i="0">
                <a:solidFill>
                  <a:srgbClr val="E9EFF7"/>
                </a:solidFill>
                <a:latin typeface="Consolas"/>
              </a:rPr>
              <a:t>      - "9095:9095"</a:t>
            </a:r>
            <a:r>
              <a:rPr sz="1050" b="0" i="0">
                <a:solidFill>
                  <a:srgbClr val="5AD18B"/>
                </a:solidFill>
                <a:latin typeface="Consolas"/>
              </a:rPr>
              <a:t>   # ListenHTTP (Airflow)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50" b="0" i="0">
                <a:solidFill>
                  <a:srgbClr val="E9EFF7"/>
                </a:solidFill>
                <a:latin typeface="Consolas"/>
              </a:rPr>
              <a:t>    volumes:</a:t>
            </a:r>
            <a:r>
              <a:rPr sz="1050" b="0" i="0">
                <a:solidFill>
                  <a:srgbClr val="5AD18B"/>
                </a:solidFill>
                <a:latin typeface="Consolas"/>
              </a:rPr>
              <a:t>   # 7 volumes = état persistant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50" b="0" i="0">
                <a:solidFill>
                  <a:srgbClr val="E9EFF7"/>
                </a:solidFill>
                <a:latin typeface="Consolas"/>
              </a:rPr>
              <a:t>      - nifi-flowfile:/.../flowfile_repository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50" b="0" i="0">
                <a:solidFill>
                  <a:srgbClr val="E9EFF7"/>
                </a:solidFill>
                <a:latin typeface="Consolas"/>
              </a:rPr>
              <a:t>      - nifi-content:/.../content_repository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50" b="0" i="0">
                <a:solidFill>
                  <a:srgbClr val="E9EFF7"/>
                </a:solidFill>
                <a:latin typeface="Consolas"/>
              </a:rPr>
              <a:t>      - nifi-provenance:/.../provenance_repo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50" b="0" i="0">
                <a:solidFill>
                  <a:srgbClr val="5AD18B"/>
                </a:solidFill>
                <a:latin typeface="Consolas"/>
              </a:rPr>
              <a:t>      # + database, state, conf, logs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50" b="0" i="0">
                <a:solidFill>
                  <a:srgbClr val="E9EFF7"/>
                </a:solidFill>
                <a:latin typeface="Consolas"/>
              </a:rPr>
              <a:t>    healthcheck:</a:t>
            </a:r>
            <a:r>
              <a:rPr sz="1050" b="0" i="0">
                <a:solidFill>
                  <a:srgbClr val="5AD18B"/>
                </a:solidFill>
                <a:latin typeface="Consolas"/>
              </a:rPr>
              <a:t>  # sonde system-diagnostics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50" b="0" i="0">
                <a:solidFill>
                  <a:srgbClr val="E9EFF7"/>
                </a:solidFill>
                <a:latin typeface="Consolas"/>
              </a:rPr>
              <a:t>    depends_on: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50" b="0" i="0">
                <a:solidFill>
                  <a:srgbClr val="E9EFF7"/>
                </a:solidFill>
                <a:latin typeface="Consolas"/>
              </a:rPr>
              <a:t>      minio: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50" b="0" i="0">
                <a:solidFill>
                  <a:srgbClr val="E9EFF7"/>
                </a:solidFill>
                <a:latin typeface="Consolas"/>
              </a:rPr>
              <a:t>        condition: service_healthy</a:t>
            </a:r>
            <a:r>
              <a:rPr sz="1050" b="0" i="0">
                <a:solidFill>
                  <a:srgbClr val="5AD18B"/>
                </a:solidFill>
                <a:latin typeface="Consolas"/>
              </a:rPr>
              <a:t>  # ordre maîtrisé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645920"/>
            <a:ext cx="3685032" cy="960120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18120" y="1645920"/>
            <a:ext cx="64008" cy="9601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74152" y="176479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C4B6"/>
                </a:solidFill>
                <a:latin typeface="Segoe UI"/>
              </a:rPr>
              <a:t>11 services · 1 réseau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4152" y="2075688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9AB0CC"/>
                </a:solidFill>
                <a:latin typeface="Segoe UI"/>
              </a:rPr>
              <a:t>chacun désigne l'autre par son nom Docker, jamais par IP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2724912"/>
            <a:ext cx="3685032" cy="960120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18120" y="2724912"/>
            <a:ext cx="64008" cy="960120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74152" y="2843784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7A1A"/>
                </a:solidFill>
                <a:latin typeface="Segoe UI"/>
              </a:rPr>
              <a:t>13 volumes nommés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4152" y="3154680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9AB0CC"/>
                </a:solidFill>
                <a:latin typeface="Segoe UI"/>
              </a:rPr>
              <a:t>l'état (NiFi, MinIO, Postgres…) survit à un docker compose down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3803904"/>
            <a:ext cx="3685032" cy="960120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3803904"/>
            <a:ext cx="64008" cy="960120"/>
          </a:xfrm>
          <a:prstGeom prst="rect">
            <a:avLst/>
          </a:prstGeom>
          <a:solidFill>
            <a:srgbClr val="4CA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74152" y="3922776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4CA5FF"/>
                </a:solidFill>
                <a:latin typeface="Segoe UI"/>
              </a:rPr>
              <a:t>Ordre de démarrage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74152" y="4233672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9AB0CC"/>
                </a:solidFill>
                <a:latin typeface="Segoe UI"/>
              </a:rPr>
              <a:t>depends_on + condition: service_healthy — rien ne part trop tôt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18120" y="4882896"/>
            <a:ext cx="3685032" cy="960120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18120" y="4882896"/>
            <a:ext cx="64008" cy="960120"/>
          </a:xfrm>
          <a:prstGeom prst="rect">
            <a:avLst/>
          </a:prstGeom>
          <a:solidFill>
            <a:srgbClr val="A9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74152" y="500176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A98BFF"/>
                </a:solidFill>
                <a:latin typeface="Segoe UI"/>
              </a:rPr>
              <a:t>Ports décalés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74152" y="5312664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9AB0CC"/>
                </a:solidFill>
                <a:latin typeface="Segoe UI"/>
              </a:rPr>
              <a:t>8080 NiFi · 8085 Airflow · 8090 Spark · 9001 MinIO · 9047 Dremio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17220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5AD18B"/>
                </a:solidFill>
                <a:latin typeface="Consolas"/>
              </a:rPr>
              <a:t>docker compose ps      →  tous les services en « healthy 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"/>
            <a:ext cx="6400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D1522"/>
                </a:solidFill>
                <a:latin typeface="Segoe UI"/>
              </a:rPr>
              <a:t>À L'ÉCRAN — DÉMONSTRATION EN DIRECT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45720"/>
            <a:ext cx="2926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0D1522"/>
                </a:solidFill>
                <a:latin typeface="Segoe UI"/>
              </a:rPr>
              <a:t>Séquence 3 · 3 min · 4 pts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310896"/>
            <a:ext cx="12191695" cy="274320"/>
          </a:xfrm>
          <a:prstGeom prst="rect">
            <a:avLst/>
          </a:prstGeom>
          <a:solidFill>
            <a:srgbClr val="1E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38328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00" b="1" i="0">
                <a:solidFill>
                  <a:srgbClr val="FF7A1A"/>
                </a:solidFill>
                <a:latin typeface="Consolas"/>
              </a:rPr>
              <a:t>ACCÈS   </a:t>
            </a:r>
            <a:r>
              <a:rPr sz="1100" b="0" i="0">
                <a:solidFill>
                  <a:srgbClr val="E9EFF7"/>
                </a:solidFill>
                <a:latin typeface="Consolas"/>
              </a:rPr>
              <a:t>http://54.175.16.1:8080/nifi   ·   accès anonyme (HTTP, sans authentification)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00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9EFF7"/>
                </a:solidFill>
                <a:latin typeface="Segoe UI"/>
              </a:rPr>
              <a:t>Le flow d'ingestion NiFi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1887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7A1A"/>
                </a:solidFill>
                <a:latin typeface="Segoe UI"/>
              </a:rPr>
              <a:t>http://54.175.16.1:8080/nifi — Process Group « FakeStoreAPI Ingestion 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74519"/>
            <a:ext cx="1298448" cy="1371600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 w="16510">
            <a:solidFill>
              <a:srgbClr val="FF7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65959"/>
            <a:ext cx="12984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7A1A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" y="2221991"/>
            <a:ext cx="1188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9EFF7"/>
                </a:solidFill>
                <a:latin typeface="Segoe UI"/>
              </a:rPr>
              <a:t>ListenHTTP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" y="2587751"/>
            <a:ext cx="1188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9AB0CC"/>
                </a:solidFill>
                <a:latin typeface="Segoe UI"/>
              </a:rPr>
              <a:t>point d'entrée</a:t>
            </a:r>
          </a:p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9AB0CC"/>
                </a:solidFill>
                <a:latin typeface="Segoe UI"/>
              </a:rPr>
              <a:t>{snapshot_date, domains}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01368" y="2560319"/>
            <a:ext cx="59436" cy="0"/>
          </a:xfrm>
          <a:prstGeom prst="line">
            <a:avLst/>
          </a:prstGeom>
          <a:ln w="17780">
            <a:solidFill>
              <a:srgbClr val="FF7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860804" y="1874519"/>
            <a:ext cx="1298448" cy="1371600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 w="16510">
            <a:solidFill>
              <a:srgbClr val="FF7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60804" y="1965959"/>
            <a:ext cx="12984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7A1A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15668" y="2221991"/>
            <a:ext cx="1188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9EFF7"/>
                </a:solidFill>
                <a:latin typeface="Segoe UI"/>
              </a:rPr>
              <a:t>EvaluateJsonPath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15668" y="2587751"/>
            <a:ext cx="1188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9AB0CC"/>
                </a:solidFill>
                <a:latin typeface="Segoe UI"/>
              </a:rPr>
              <a:t>extrait la date</a:t>
            </a:r>
          </a:p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9AB0CC"/>
                </a:solidFill>
                <a:latin typeface="Segoe UI"/>
              </a:rPr>
              <a:t>AVANT l'éclatement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159252" y="2560319"/>
            <a:ext cx="59436" cy="0"/>
          </a:xfrm>
          <a:prstGeom prst="line">
            <a:avLst/>
          </a:prstGeom>
          <a:ln w="17780">
            <a:solidFill>
              <a:srgbClr val="FF7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218688" y="1874519"/>
            <a:ext cx="1298448" cy="1371600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 w="16510">
            <a:solidFill>
              <a:srgbClr val="FF7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18688" y="1965959"/>
            <a:ext cx="12984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7A1A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73552" y="2221991"/>
            <a:ext cx="1188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9EFF7"/>
                </a:solidFill>
                <a:latin typeface="Segoe UI"/>
              </a:rPr>
              <a:t>SplitJson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73552" y="2587751"/>
            <a:ext cx="1188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9AB0CC"/>
                </a:solidFill>
                <a:latin typeface="Segoe UI"/>
              </a:rPr>
              <a:t>1 FlowFile</a:t>
            </a:r>
          </a:p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9AB0CC"/>
                </a:solidFill>
                <a:latin typeface="Segoe UI"/>
              </a:rPr>
              <a:t>par domaine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517136" y="2560319"/>
            <a:ext cx="59436" cy="0"/>
          </a:xfrm>
          <a:prstGeom prst="line">
            <a:avLst/>
          </a:prstGeom>
          <a:ln w="17780">
            <a:solidFill>
              <a:srgbClr val="FF7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576572" y="1874519"/>
            <a:ext cx="1298448" cy="1371600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 w="16510">
            <a:solidFill>
              <a:srgbClr val="FF7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6572" y="1965959"/>
            <a:ext cx="12984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7A1A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1436" y="2221991"/>
            <a:ext cx="1188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9EFF7"/>
                </a:solidFill>
                <a:latin typeface="Segoe UI"/>
              </a:rPr>
              <a:t>InvokeHTTP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31436" y="2587751"/>
            <a:ext cx="1188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9AB0CC"/>
                </a:solidFill>
                <a:latin typeface="Segoe UI"/>
              </a:rPr>
              <a:t>GET #{api.base.url}</a:t>
            </a:r>
          </a:p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9AB0CC"/>
                </a:solidFill>
                <a:latin typeface="Segoe UI"/>
              </a:rPr>
              <a:t>/${domain}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75020" y="2560319"/>
            <a:ext cx="59436" cy="0"/>
          </a:xfrm>
          <a:prstGeom prst="line">
            <a:avLst/>
          </a:prstGeom>
          <a:ln w="17780">
            <a:solidFill>
              <a:srgbClr val="FF7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934456" y="1874519"/>
            <a:ext cx="1298448" cy="1371600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 w="16510">
            <a:solidFill>
              <a:srgbClr val="FF7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34456" y="1965959"/>
            <a:ext cx="12984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7A1A"/>
                </a:solidFill>
                <a:latin typeface="Segoe U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2221991"/>
            <a:ext cx="1188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9EFF7"/>
                </a:solidFill>
                <a:latin typeface="Segoe UI"/>
              </a:rPr>
              <a:t>RouteOnAttribute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2587751"/>
            <a:ext cx="1188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9AB0CC"/>
                </a:solidFill>
                <a:latin typeface="Segoe UI"/>
              </a:rPr>
              <a:t>contrôle minimal</a:t>
            </a:r>
          </a:p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9AB0CC"/>
                </a:solidFill>
                <a:latin typeface="Segoe UI"/>
              </a:rPr>
              <a:t>200 + non vide + JSON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232904" y="2560319"/>
            <a:ext cx="59436" cy="0"/>
          </a:xfrm>
          <a:prstGeom prst="line">
            <a:avLst/>
          </a:prstGeom>
          <a:ln w="17780">
            <a:solidFill>
              <a:srgbClr val="FF7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292340" y="1874519"/>
            <a:ext cx="1298448" cy="1371600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 w="16510">
            <a:solidFill>
              <a:srgbClr val="FF7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92340" y="1965959"/>
            <a:ext cx="12984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7A1A"/>
                </a:solidFill>
                <a:latin typeface="Segoe U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47204" y="2221991"/>
            <a:ext cx="1188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9EFF7"/>
                </a:solidFill>
                <a:latin typeface="Segoe UI"/>
              </a:rPr>
              <a:t>DetectDuplicate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47204" y="2587751"/>
            <a:ext cx="1188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9AB0CC"/>
                </a:solidFill>
                <a:latin typeface="Segoe UI"/>
              </a:rPr>
              <a:t>idempotence</a:t>
            </a:r>
          </a:p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9AB0CC"/>
                </a:solidFill>
                <a:latin typeface="Segoe UI"/>
              </a:rPr>
              <a:t>domaine::date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590788" y="2560319"/>
            <a:ext cx="59436" cy="0"/>
          </a:xfrm>
          <a:prstGeom prst="line">
            <a:avLst/>
          </a:prstGeom>
          <a:ln w="17780">
            <a:solidFill>
              <a:srgbClr val="FF7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8650224" y="1874519"/>
            <a:ext cx="1298448" cy="1371600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 w="16510">
            <a:solidFill>
              <a:srgbClr val="FF7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50224" y="1965959"/>
            <a:ext cx="12984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7A1A"/>
                </a:solidFill>
                <a:latin typeface="Segoe UI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05088" y="2221991"/>
            <a:ext cx="1188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9EFF7"/>
                </a:solidFill>
                <a:latin typeface="Segoe UI"/>
              </a:rPr>
              <a:t>UpdateAttribute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5088" y="2587751"/>
            <a:ext cx="1188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9AB0CC"/>
                </a:solidFill>
                <a:latin typeface="Segoe UI"/>
              </a:rPr>
              <a:t>construit la clé</a:t>
            </a:r>
          </a:p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9AB0CC"/>
                </a:solidFill>
                <a:latin typeface="Segoe UI"/>
              </a:rPr>
              <a:t>S3 et l'horodatage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948672" y="2560319"/>
            <a:ext cx="59436" cy="0"/>
          </a:xfrm>
          <a:prstGeom prst="line">
            <a:avLst/>
          </a:prstGeom>
          <a:ln w="17780">
            <a:solidFill>
              <a:srgbClr val="FF7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10008108" y="1874519"/>
            <a:ext cx="1298448" cy="1371600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 w="16510">
            <a:solidFill>
              <a:srgbClr val="FF7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08108" y="1965959"/>
            <a:ext cx="12984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7A1A"/>
                </a:solidFill>
                <a:latin typeface="Segoe UI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62972" y="2221991"/>
            <a:ext cx="1188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9EFF7"/>
                </a:solidFill>
                <a:latin typeface="Segoe UI"/>
              </a:rPr>
              <a:t>PutS3Object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62972" y="2587751"/>
            <a:ext cx="1188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9AB0CC"/>
                </a:solidFill>
                <a:latin typeface="Segoe UI"/>
              </a:rPr>
              <a:t>dépôt MinIO</a:t>
            </a:r>
          </a:p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9AB0CC"/>
                </a:solidFill>
                <a:latin typeface="Segoe UI"/>
              </a:rPr>
              <a:t>path-style access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2920" y="3520440"/>
            <a:ext cx="10881360" cy="822960"/>
          </a:xfrm>
          <a:prstGeom prst="roundRect">
            <a:avLst>
              <a:gd name="adj" fmla="val 8000"/>
            </a:avLst>
          </a:prstGeom>
          <a:solidFill>
            <a:srgbClr val="1E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" y="3639312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26B6B"/>
                </a:solidFill>
                <a:latin typeface="Segoe UI"/>
              </a:rPr>
              <a:t>Trois chemins de reprise, aucune perte silencieuse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" y="393192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AB0CC"/>
                </a:solidFill>
                <a:latin typeface="Segoe UI"/>
              </a:rPr>
              <a:t>appel API en échec → RetryFlowFile ×3 → rebut     ·     réponse non conforme → rebut     ·     dépôt S3 en échec → RetryFlowFile ×3 → rebut     ·     doublon → journalisé (ce n'est pas une erreur)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" y="457200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9EFF7"/>
                </a:solidFill>
                <a:latin typeface="Segoe UI"/>
              </a:rPr>
              <a:t>À MONTRER DANS L'INTERFACE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1520" y="4992624"/>
            <a:ext cx="100584" cy="100584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78408" y="4919472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AB0CC"/>
                </a:solidFill>
                <a:latin typeface="Segoe UI"/>
              </a:rPr>
              <a:t>ouvrir la configuration de PutS3Object : Endpoint Override URL = http://minio:9000 — insister sur « pas localhost »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1520" y="5294376"/>
            <a:ext cx="100584" cy="100584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8408" y="5221224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AB0CC"/>
                </a:solidFill>
                <a:latin typeface="Segoe UI"/>
              </a:rPr>
              <a:t>montrer Use Path Style Access = true : MinIO n'implémente pas le virtual-hosted style d'AWS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31520" y="5596128"/>
            <a:ext cx="100584" cy="100584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78408" y="5522976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AB0CC"/>
                </a:solidFill>
                <a:latin typeface="Segoe UI"/>
              </a:rPr>
              <a:t>ouvrir le Parameter Context « fakestore-ingestion » : les secrets sont marqués sensibles et chiffrés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31520" y="5897880"/>
            <a:ext cx="100584" cy="100584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8408" y="5824728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AB0CC"/>
                </a:solidFill>
                <a:latin typeface="Segoe UI"/>
              </a:rPr>
              <a:t>montrer les relations sortantes d'InvokeHTTP et où elles vont (RetryFlowFile, puis file de rebut)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31520" y="6199632"/>
            <a:ext cx="100584" cy="100584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8408" y="6126480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AB0CC"/>
                </a:solidFill>
                <a:latin typeface="Segoe UI"/>
              </a:rPr>
              <a:t>ouvrir la console MinIO : lakehouse-raw/fakestore/products/ingest_date=… — la partition Hive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1417320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9EFF7"/>
                </a:solidFill>
                <a:latin typeface="Segoe UI"/>
              </a:rPr>
              <a:t>Le flow d'ingestion NiFi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AB0CC"/>
                </a:solidFill>
                <a:latin typeface="Segoe UI"/>
              </a:rPr>
              <a:t>12 processeurs — API → contrôle → dépôt MinIO, avec file de rebut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 i="0">
                <a:solidFill>
                  <a:srgbClr val="FF7A1A"/>
                </a:solidFill>
                <a:latin typeface="Segoe UI"/>
              </a:rPr>
              <a:t>Capture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1047" y="1527048"/>
            <a:ext cx="8229600" cy="4669155"/>
          </a:xfrm>
          <a:prstGeom prst="rect">
            <a:avLst/>
          </a:prstGeom>
          <a:solidFill>
            <a:srgbClr val="1E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nifi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6767" y="1572768"/>
            <a:ext cx="8138160" cy="38844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6260211"/>
            <a:ext cx="10820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9AB0CC"/>
                </a:solidFill>
                <a:latin typeface="Segoe UI"/>
              </a:rPr>
              <a:t>Groupe « FakeStoreAPI Ingestion ». PutS3Object dépose le JSON brut sur http://minio:9000 en path-style. Aucune transformation métier : elle appartient à Spark (contrainte du sujet).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14173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9EFF7"/>
                </a:solidFill>
                <a:latin typeface="Segoe UI"/>
              </a:rPr>
              <a:t>Dépôt dans MinIO — zone brute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AB0CC"/>
                </a:solidFill>
                <a:latin typeface="Segoe UI"/>
              </a:rPr>
              <a:t>lakehouse-raw/fakestore/&lt;domaine&gt;/ingest_date=AAAA-MM-JJ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 i="0">
                <a:solidFill>
                  <a:srgbClr val="2EC4B6"/>
                </a:solidFill>
                <a:latin typeface="Segoe UI"/>
              </a:rPr>
              <a:t>Capture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1047" y="1527048"/>
            <a:ext cx="8229600" cy="4669155"/>
          </a:xfrm>
          <a:prstGeom prst="rect">
            <a:avLst/>
          </a:prstGeom>
          <a:solidFill>
            <a:srgbClr val="1E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inio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6767" y="1572768"/>
            <a:ext cx="8138160" cy="45777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6260211"/>
            <a:ext cx="10820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9AB0CC"/>
                </a:solidFill>
                <a:latin typeface="Segoe UI"/>
              </a:rPr>
              <a:t>Un objet JSON par domaine et par jour. Environ 180 partitions après le backfill des 6 mois d'historique.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1417320"/>
          </a:xfrm>
          <a:prstGeom prst="rect">
            <a:avLst/>
          </a:prstGeom>
          <a:solidFill>
            <a:srgbClr val="4CA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9EFF7"/>
                </a:solidFill>
                <a:latin typeface="Segoe UI"/>
              </a:rPr>
              <a:t>Le contrat de chaque couche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AB0CC"/>
                </a:solidFill>
                <a:latin typeface="Segoe UI"/>
              </a:rPr>
              <a:t>Ce que chaque couche garantit — et ce qu'elle s'interdit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520440" cy="658368"/>
          </a:xfrm>
          <a:prstGeom prst="roundRect">
            <a:avLst>
              <a:gd name="adj" fmla="val 8000"/>
            </a:avLst>
          </a:prstGeom>
          <a:solidFill>
            <a:srgbClr val="C0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0D1522"/>
                </a:solidFill>
                <a:latin typeface="Segoe UI"/>
              </a:rPr>
              <a:t>BRONZE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75104"/>
            <a:ext cx="3017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D1522"/>
                </a:solidFill>
                <a:latin typeface="Segoe UI"/>
              </a:rPr>
              <a:t>mémoire fidèle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505456"/>
            <a:ext cx="82296" cy="82296"/>
          </a:xfrm>
          <a:prstGeom prst="rect">
            <a:avLst/>
          </a:prstGeom>
          <a:solidFill>
            <a:srgbClr val="C0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2423160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AB0CC"/>
                </a:solidFill>
                <a:latin typeface="Segoe UI"/>
              </a:rPr>
              <a:t>copie 1:1 de l'API, structures imbriquées conservées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072384"/>
            <a:ext cx="82296" cy="82296"/>
          </a:xfrm>
          <a:prstGeom prst="rect">
            <a:avLst/>
          </a:prstGeom>
          <a:solidFill>
            <a:srgbClr val="C0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2990088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AB0CC"/>
                </a:solidFill>
                <a:latin typeface="Segoe UI"/>
              </a:rPr>
              <a:t>8 colonnes de traçabilité jusqu'à l'objet MinIO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639312"/>
            <a:ext cx="82296" cy="82296"/>
          </a:xfrm>
          <a:prstGeom prst="rect">
            <a:avLst/>
          </a:prstGeom>
          <a:solidFill>
            <a:srgbClr val="C0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4712" y="3557016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AB0CC"/>
                </a:solidFill>
                <a:latin typeface="Segoe UI"/>
              </a:rPr>
              <a:t>les rejets sont MARQUÉS, jamais supprimés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06240"/>
            <a:ext cx="82296" cy="82296"/>
          </a:xfrm>
          <a:prstGeom prst="rect">
            <a:avLst/>
          </a:prstGeom>
          <a:solidFill>
            <a:srgbClr val="C0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24712" y="4123944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AB0CC"/>
                </a:solidFill>
                <a:latin typeface="Segoe UI"/>
              </a:rPr>
              <a:t>une seule entorse : le mot de passe est haché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773168"/>
            <a:ext cx="82296" cy="82296"/>
          </a:xfrm>
          <a:prstGeom prst="rect">
            <a:avLst/>
          </a:prstGeom>
          <a:solidFill>
            <a:srgbClr val="C0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4712" y="4690872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AB0CC"/>
                </a:solidFill>
                <a:latin typeface="Segoe UI"/>
              </a:rPr>
              <a:t>partition : _ingest_date (jour)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5349240"/>
            <a:ext cx="3154680" cy="457200"/>
          </a:xfrm>
          <a:prstGeom prst="roundRect">
            <a:avLst>
              <a:gd name="adj" fmla="val 8000"/>
            </a:avLst>
          </a:prstGeom>
          <a:solidFill>
            <a:srgbClr val="1E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440680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C07A3E"/>
                </a:solidFill>
                <a:latin typeface="Consolas"/>
              </a:rPr>
              <a:t>raw_products · raw_users · raw_carts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1600200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43400" y="1600200"/>
            <a:ext cx="3520440" cy="658368"/>
          </a:xfrm>
          <a:prstGeom prst="roundRect">
            <a:avLst>
              <a:gd name="adj" fmla="val 8000"/>
            </a:avLst>
          </a:prstGeom>
          <a:solidFill>
            <a:srgbClr val="9EA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169164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0D1522"/>
                </a:solidFill>
                <a:latin typeface="Segoe UI"/>
              </a:rPr>
              <a:t>SILVER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1975104"/>
            <a:ext cx="3017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D1522"/>
                </a:solidFill>
                <a:latin typeface="Segoe UI"/>
              </a:rPr>
              <a:t>vérité métier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2505456"/>
            <a:ext cx="82296" cy="82296"/>
          </a:xfrm>
          <a:prstGeom prst="rect">
            <a:avLst/>
          </a:prstGeom>
          <a:solidFill>
            <a:srgbClr val="9EA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82312" y="2423160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AB0CC"/>
                </a:solidFill>
                <a:latin typeface="Segoe UI"/>
              </a:rPr>
              <a:t>typé : prix en DECIMAL(10,2), pas en DOUBLE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3072384"/>
            <a:ext cx="82296" cy="82296"/>
          </a:xfrm>
          <a:prstGeom prst="rect">
            <a:avLst/>
          </a:prstGeom>
          <a:solidFill>
            <a:srgbClr val="9EA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82312" y="2990088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AB0CC"/>
                </a:solidFill>
                <a:latin typeface="Segoe UI"/>
              </a:rPr>
              <a:t>aplati : plus aucune structure imbriquée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3639312"/>
            <a:ext cx="82296" cy="82296"/>
          </a:xfrm>
          <a:prstGeom prst="rect">
            <a:avLst/>
          </a:prstGeom>
          <a:solidFill>
            <a:srgbClr val="9EA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82312" y="3557016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AB0CC"/>
                </a:solidFill>
                <a:latin typeface="Segoe UI"/>
              </a:rPr>
              <a:t>dédoublonné : 1 ligne par entité et par jour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4206240"/>
            <a:ext cx="82296" cy="82296"/>
          </a:xfrm>
          <a:prstGeom prst="rect">
            <a:avLst/>
          </a:prstGeom>
          <a:solidFill>
            <a:srgbClr val="9EA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82312" y="4123944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AB0CC"/>
                </a:solidFill>
                <a:latin typeface="Segoe UI"/>
              </a:rPr>
              <a:t>enrichi : segments, complétude, géo validée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4773168"/>
            <a:ext cx="82296" cy="82296"/>
          </a:xfrm>
          <a:prstGeom prst="rect">
            <a:avLst/>
          </a:prstGeom>
          <a:solidFill>
            <a:srgbClr val="9EA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82312" y="4690872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AB0CC"/>
                </a:solidFill>
                <a:latin typeface="Segoe UI"/>
              </a:rPr>
              <a:t>partition : months(snapshot_date)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26280" y="5349240"/>
            <a:ext cx="3154680" cy="457200"/>
          </a:xfrm>
          <a:prstGeom prst="roundRect">
            <a:avLst>
              <a:gd name="adj" fmla="val 8000"/>
            </a:avLst>
          </a:prstGeom>
          <a:solidFill>
            <a:srgbClr val="1E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63440" y="5440680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9EADBE"/>
                </a:solidFill>
                <a:latin typeface="Consolas"/>
              </a:rPr>
              <a:t>dim_products · dim_customers · fct_order_items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01000" y="1600200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001000" y="1600200"/>
            <a:ext cx="3520440" cy="658368"/>
          </a:xfrm>
          <a:prstGeom prst="roundRect">
            <a:avLst>
              <a:gd name="adj" fmla="val 8000"/>
            </a:avLst>
          </a:prstGeom>
          <a:solidFill>
            <a:srgbClr val="E0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0" y="169164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0D1522"/>
                </a:solidFill>
                <a:latin typeface="Segoe UI"/>
              </a:rPr>
              <a:t>GOLD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1975104"/>
            <a:ext cx="3017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D1522"/>
                </a:solidFill>
                <a:latin typeface="Segoe UI"/>
              </a:rPr>
              <a:t>réponses aux questions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2505456"/>
            <a:ext cx="82296" cy="82296"/>
          </a:xfrm>
          <a:prstGeom prst="rect">
            <a:avLst/>
          </a:prstGeom>
          <a:solidFill>
            <a:srgbClr val="E0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39912" y="2423160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AB0CC"/>
                </a:solidFill>
                <a:latin typeface="Segoe UI"/>
              </a:rPr>
              <a:t>agrégats prêts à lire — aucun calcul côté BI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0" y="3072384"/>
            <a:ext cx="82296" cy="82296"/>
          </a:xfrm>
          <a:prstGeom prst="rect">
            <a:avLst/>
          </a:prstGeom>
          <a:solidFill>
            <a:srgbClr val="E0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39912" y="2990088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AB0CC"/>
                </a:solidFill>
                <a:latin typeface="Segoe UI"/>
              </a:rPr>
              <a:t>jointures inter-domaines matérialisées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0" y="3639312"/>
            <a:ext cx="82296" cy="82296"/>
          </a:xfrm>
          <a:prstGeom prst="rect">
            <a:avLst/>
          </a:prstGeom>
          <a:solidFill>
            <a:srgbClr val="E0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39912" y="3557016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AB0CC"/>
                </a:solidFill>
                <a:latin typeface="Segoe UI"/>
              </a:rPr>
              <a:t>moyennes mobiles, RFM, tendances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0" y="4206240"/>
            <a:ext cx="82296" cy="82296"/>
          </a:xfrm>
          <a:prstGeom prst="rect">
            <a:avLst/>
          </a:prstGeom>
          <a:solidFill>
            <a:srgbClr val="E0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39912" y="4123944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AB0CC"/>
                </a:solidFill>
                <a:latin typeface="Segoe UI"/>
              </a:rPr>
              <a:t>recalcul complet → nouveau snapshot Iceberg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9600" y="4773168"/>
            <a:ext cx="82296" cy="82296"/>
          </a:xfrm>
          <a:prstGeom prst="rect">
            <a:avLst/>
          </a:prstGeom>
          <a:solidFill>
            <a:srgbClr val="E0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39912" y="4690872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AB0CC"/>
                </a:solidFill>
                <a:latin typeface="Segoe UI"/>
              </a:rPr>
              <a:t>l'intégrité référentielle est un indicateur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83880" y="5349240"/>
            <a:ext cx="3154680" cy="457200"/>
          </a:xfrm>
          <a:prstGeom prst="roundRect">
            <a:avLst>
              <a:gd name="adj" fmla="val 8000"/>
            </a:avLst>
          </a:prstGeom>
          <a:solidFill>
            <a:srgbClr val="1E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21040" y="5440680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E0B44A"/>
                </a:solidFill>
                <a:latin typeface="Consolas"/>
              </a:rPr>
              <a:t>catalog_kpi · price_trend · sales_daily · customer_360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6327648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AB0CC"/>
                </a:solidFill>
                <a:latin typeface="Segoe UI"/>
              </a:rPr>
              <a:t>Idempotence à tous les étages : comparaison d'ensembles de dates + overwritePartitions — un rejeu ne duplique rien.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0" y="6327648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AB0CC"/>
                </a:solidFill>
                <a:latin typeface="Segoe UI"/>
              </a:rPr>
              <a:t>spark/jobs/ · docs/architecture.md §5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1417320"/>
          </a:xfrm>
          <a:prstGeom prst="rect">
            <a:avLst/>
          </a:prstGeom>
          <a:solidFill>
            <a:srgbClr val="F2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9EFF7"/>
                </a:solidFill>
                <a:latin typeface="Segoe UI"/>
              </a:rPr>
              <a:t>Reconstituer 6 mois d'historique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AB0CC"/>
                </a:solidFill>
                <a:latin typeface="Segoe UI"/>
              </a:rPr>
              <a:t>La contrainte la plus intéressante du sujet — §4.1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10835640" cy="1417320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45920"/>
            <a:ext cx="64008" cy="1417320"/>
          </a:xfrm>
          <a:prstGeom prst="rect">
            <a:avLst/>
          </a:prstGeom>
          <a:solidFill>
            <a:srgbClr val="F2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10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26B6B"/>
                </a:solidFill>
                <a:latin typeface="Segoe UI"/>
              </a:rPr>
              <a:t>LE PROBLÈME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76272"/>
            <a:ext cx="10241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B0CC"/>
                </a:solidFill>
                <a:latin typeface="Segoe UI"/>
              </a:rPr>
              <a:t>FakeStoreAPI ne renvoie que l'état courant : aucun champ de date sur /products ni /users, et seulement 7 paniers figés sur /carts.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B0CC"/>
                </a:solidFill>
                <a:latin typeface="Segoe UI"/>
              </a:rPr>
              <a:t>Ingérer 180 fois la même réponse produit un historique techniquement conforme, mais analytiquement mort — toutes les courbes seraient plates.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337560"/>
            <a:ext cx="5257800" cy="2651760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52044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9EFF7"/>
                </a:solidFill>
                <a:latin typeface="Segoe UI"/>
              </a:rPr>
              <a:t>Deux réponses faciles, et pourquoi je les ai écartées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93192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26B6B"/>
                </a:solidFill>
                <a:latin typeface="Segoe UI"/>
              </a:rPr>
              <a:t>✕  Ingérer 180 fois à l'identique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4224528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AB0CC"/>
                </a:solidFill>
                <a:latin typeface="Segoe UI"/>
              </a:rPr>
              <a:t>conforme à la lettre, sans aucune valeur analytique — aucune tendance à observer en Gold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93776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26B6B"/>
                </a:solidFill>
                <a:latin typeface="Segoe UI"/>
              </a:rPr>
              <a:t>✕  Générer des données de toutes pièces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5230368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AB0CC"/>
                </a:solidFill>
                <a:latin typeface="Segoe UI"/>
              </a:rPr>
              <a:t>trahit la contrainte « données issues de FakeStoreAPI » et rend le résultat indéfendable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337560"/>
            <a:ext cx="5257800" cy="2651760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52044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5AD18B"/>
                </a:solidFill>
                <a:latin typeface="Segoe UI"/>
              </a:rPr>
              <a:t>Les deux propriétés que je me suis imposées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93192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5AD18B"/>
                </a:solidFill>
                <a:latin typeface="Segoe UI"/>
              </a:rPr>
              <a:t>✓  Déterminisme absolu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0568" y="4224528"/>
            <a:ext cx="4480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AB0CC"/>
                </a:solidFill>
                <a:latin typeface="Segoe UI"/>
              </a:rPr>
              <a:t>aucune fonction aléatoire — tout dérive de hash(clé | date | graine). Deux exécutions produisent le même historique, le pipeline reste idempotent.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93776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5AD18B"/>
                </a:solidFill>
                <a:latin typeface="Segoe UI"/>
              </a:rPr>
              <a:t>✓  Ancrage sur le réel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0568" y="5230368"/>
            <a:ext cx="4480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AB0CC"/>
                </a:solidFill>
                <a:latin typeface="Segoe UI"/>
              </a:rPr>
              <a:t>la valeur renvoyée aujourd'hui est le POINT D'ARRIVÉE ; le modèle rétro-projette le passé. Sur la dernière date, le facteur vaut exactement 1,0.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1417320"/>
          </a:xfrm>
          <a:prstGeom prst="rect">
            <a:avLst/>
          </a:prstGeom>
          <a:solidFill>
            <a:srgbClr val="5AD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9EFF7"/>
                </a:solidFill>
                <a:latin typeface="Segoe UI"/>
              </a:rPr>
              <a:t>Trois niveaux, du plus réel au plus reconstruit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AB0CC"/>
                </a:solidFill>
                <a:latin typeface="Segoe UI"/>
              </a:rPr>
              <a:t>Le lakehouse ne ment jamais sur la nature d'une donnée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72768"/>
            <a:ext cx="10835640" cy="1207008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64008" cy="1207008"/>
          </a:xfrm>
          <a:prstGeom prst="rect">
            <a:avLst/>
          </a:prstGeom>
          <a:solidFill>
            <a:srgbClr val="5AD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6916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5AD18B"/>
                </a:solidFill>
                <a:latin typeface="Segoe UI"/>
              </a:rPr>
              <a:t>NIVEAU 1 — HISTORISATION RÉELLE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66960" y="1691640"/>
            <a:ext cx="1463040" cy="256032"/>
          </a:xfrm>
          <a:prstGeom prst="roundRect">
            <a:avLst>
              <a:gd name="adj" fmla="val 8000"/>
            </a:avLst>
          </a:prstGeom>
          <a:solidFill>
            <a:srgbClr val="1E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1728216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5AD18B"/>
                </a:solidFill>
                <a:latin typeface="Segoe UI"/>
              </a:rPr>
              <a:t>toujours actif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011680"/>
            <a:ext cx="10241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9EFF7"/>
                </a:solidFill>
                <a:latin typeface="Segoe UI"/>
              </a:rPr>
              <a:t>NiFi est déclenché une fois par date logique sur 180 jours. Chaque itération est un VRAI appel HTTP, horodaté, rangé dans sa propre partition ingest_date=.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468880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9AB0CC"/>
                </a:solidFill>
                <a:latin typeface="Segoe UI"/>
              </a:rPr>
              <a:t>180 snapshots authentiques en Bronze — c'est ce niveau qui satisfait littéralement la contrainte.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898648"/>
            <a:ext cx="10835640" cy="1207008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898648"/>
            <a:ext cx="64008" cy="1207008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3017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EC4B6"/>
                </a:solidFill>
                <a:latin typeface="Segoe UI"/>
              </a:rPr>
              <a:t>NIVEAU 2 — HORODATAGE REDISTRIBUÉ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66960" y="3017520"/>
            <a:ext cx="1463040" cy="256032"/>
          </a:xfrm>
          <a:prstGeom prst="roundRect">
            <a:avLst>
              <a:gd name="adj" fmla="val 8000"/>
            </a:avLst>
          </a:prstGeom>
          <a:solidFill>
            <a:srgbClr val="1E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60" y="3054096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2EC4B6"/>
                </a:solidFill>
                <a:latin typeface="Segoe UI"/>
              </a:rPr>
              <a:t>toujours actif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3337560"/>
            <a:ext cx="10241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9EFF7"/>
                </a:solidFill>
                <a:latin typeface="Segoe UI"/>
              </a:rPr>
              <a:t>Les 7 paniers de /carts portent une vraie date, mais figée en 2019-2020. Elle est projetée de façon déterministe sur la fenêtre des 6 mois.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3794760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9AB0CC"/>
                </a:solidFill>
                <a:latin typeface="Segoe UI"/>
              </a:rPr>
              <a:t>Les enregistrements restent réels ; seule leur position dans le temps est recalculée.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224528"/>
            <a:ext cx="10835640" cy="1207008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4224528"/>
            <a:ext cx="64008" cy="1207008"/>
          </a:xfrm>
          <a:prstGeom prst="rect">
            <a:avLst/>
          </a:prstGeom>
          <a:solidFill>
            <a:srgbClr val="E0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" y="43434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0B44A"/>
                </a:solidFill>
                <a:latin typeface="Segoe UI"/>
              </a:rPr>
              <a:t>NIVEAU 3 — DÉRIVE SYNTHÉTIQUE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66960" y="4343400"/>
            <a:ext cx="1463040" cy="256032"/>
          </a:xfrm>
          <a:prstGeom prst="roundRect">
            <a:avLst>
              <a:gd name="adj" fmla="val 8000"/>
            </a:avLst>
          </a:prstGeom>
          <a:solidFill>
            <a:srgbClr val="1E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66960" y="4379976"/>
            <a:ext cx="1463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E0B44A"/>
                </a:solidFill>
                <a:latin typeface="Segoe UI"/>
              </a:rPr>
              <a:t>désactivable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" y="4663440"/>
            <a:ext cx="10241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9EFF7"/>
                </a:solidFill>
                <a:latin typeface="Segoe UI"/>
              </a:rPr>
              <a:t>Un modèle déterministe applique une dérive aux mesures : indice de prix (tendance + saisonnalité trimestrielle + bruit produit) et croissance du cumul d'avis.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5120640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9AB0CC"/>
                </a:solidFill>
                <a:latin typeface="Segoe UI"/>
              </a:rPr>
              <a:t>SYNTHETIC_HISTORY_ENABLED=false coupe ce niveau : le pipeline tourne, les courbes s'aplatissent.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577840"/>
            <a:ext cx="10835640" cy="777240"/>
          </a:xfrm>
          <a:prstGeom prst="roundRect">
            <a:avLst>
              <a:gd name="adj" fmla="val 8000"/>
            </a:avLst>
          </a:prstGeom>
          <a:solidFill>
            <a:srgbClr val="1E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66928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9EFF7"/>
                </a:solidFill>
                <a:latin typeface="Segoe UI"/>
              </a:rPr>
              <a:t>La donnée porte toujours sa nature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971032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EC4B6"/>
                </a:solidFill>
                <a:latin typeface="Consolas"/>
              </a:rPr>
              <a:t>is_reconstructed  ·  unit_price_observed (mesure brute) à côté de unit_price (mesure historisée)  ·  template_cart_id (le panier réel d'origine)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"/>
            <a:ext cx="6400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D1522"/>
                </a:solidFill>
                <a:latin typeface="Segoe UI"/>
              </a:rPr>
              <a:t>À L'ÉCRAN — DÉMONSTRATION EN DIRECT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45720"/>
            <a:ext cx="2926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0D1522"/>
                </a:solidFill>
                <a:latin typeface="Segoe UI"/>
              </a:rPr>
              <a:t>Séquence 4 · 2 à 3 min — 4 pts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310896"/>
            <a:ext cx="12191695" cy="274320"/>
          </a:xfrm>
          <a:prstGeom prst="rect">
            <a:avLst/>
          </a:prstGeom>
          <a:solidFill>
            <a:srgbClr val="1E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38328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00" b="1" i="0">
                <a:solidFill>
                  <a:srgbClr val="FF7A1A"/>
                </a:solidFill>
                <a:latin typeface="Consolas"/>
              </a:rPr>
              <a:t>ACCÈS   </a:t>
            </a:r>
            <a:r>
              <a:rPr sz="1100" b="0" i="0">
                <a:solidFill>
                  <a:srgbClr val="E9EFF7"/>
                </a:solidFill>
                <a:latin typeface="Consolas"/>
              </a:rPr>
              <a:t>http://54.175.16.1:8090   ·   Spark Master (sans authentification)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00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9EFF7"/>
                </a:solidFill>
                <a:latin typeface="Segoe UI"/>
              </a:rPr>
              <a:t>Les jobs Spark du médaillon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1887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4CA5FF"/>
                </a:solidFill>
                <a:latin typeface="Segoe UI"/>
              </a:rPr>
              <a:t>VS Code — spark/jobs/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37360"/>
            <a:ext cx="10835640" cy="603504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37360"/>
            <a:ext cx="64008" cy="603504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801368"/>
            <a:ext cx="2926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EC4B6"/>
                </a:solidFill>
                <a:latin typeface="Consolas"/>
              </a:rPr>
              <a:t>common/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057400"/>
            <a:ext cx="3108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AB0CC"/>
                </a:solidFill>
                <a:latin typeface="Segoe UI"/>
              </a:rPr>
              <a:t>session · schemas · history · incremental · writer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911096"/>
            <a:ext cx="6949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9EFF7"/>
                </a:solidFill>
                <a:latin typeface="Segoe UI"/>
              </a:rPr>
              <a:t>le socle : rien n'est dupliqué d'un job à l'autre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395728"/>
            <a:ext cx="10835640" cy="603504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2395728"/>
            <a:ext cx="64008" cy="603504"/>
          </a:xfrm>
          <a:prstGeom prst="rect">
            <a:avLst/>
          </a:prstGeom>
          <a:solidFill>
            <a:srgbClr val="C0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459736"/>
            <a:ext cx="2926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07A3E"/>
                </a:solidFill>
                <a:latin typeface="Consolas"/>
              </a:rPr>
              <a:t>bronze/bronze_ingest.py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715768"/>
            <a:ext cx="3108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AB0CC"/>
                </a:solidFill>
                <a:latin typeface="Segoe UI"/>
              </a:rPr>
              <a:t>un seul job, paramétré par --domain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569464"/>
            <a:ext cx="6949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9EFF7"/>
                </a:solidFill>
                <a:latin typeface="Segoe UI"/>
              </a:rPr>
              <a:t>schéma explicite, PERMISSIVE, colonnes techniques, overwritePartitions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054096"/>
            <a:ext cx="10835640" cy="603504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054096"/>
            <a:ext cx="64008" cy="603504"/>
          </a:xfrm>
          <a:prstGeom prst="rect">
            <a:avLst/>
          </a:prstGeom>
          <a:solidFill>
            <a:srgbClr val="9EA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118104"/>
            <a:ext cx="2926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9EADBE"/>
                </a:solidFill>
                <a:latin typeface="Consolas"/>
              </a:rPr>
              <a:t>silver/silver_products.py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374136"/>
            <a:ext cx="3108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AB0CC"/>
                </a:solidFill>
                <a:latin typeface="Segoe UI"/>
              </a:rPr>
              <a:t>dédoublonnage + typage + historisation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3227832"/>
            <a:ext cx="6949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9EFF7"/>
                </a:solidFill>
                <a:latin typeface="Segoe UI"/>
              </a:rPr>
              <a:t>montrer la fenêtre row_number() et le facteur de prix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712464"/>
            <a:ext cx="10835640" cy="603504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3712464"/>
            <a:ext cx="64008" cy="603504"/>
          </a:xfrm>
          <a:prstGeom prst="rect">
            <a:avLst/>
          </a:prstGeom>
          <a:solidFill>
            <a:srgbClr val="9EA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3776472"/>
            <a:ext cx="2926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9EADBE"/>
                </a:solidFill>
                <a:latin typeface="Consolas"/>
              </a:rPr>
              <a:t>silver/silver_orders.py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032504"/>
            <a:ext cx="3108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AB0CC"/>
                </a:solidFill>
                <a:latin typeface="Segoe UI"/>
              </a:rPr>
              <a:t>génération du flux de commandes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3886200"/>
            <a:ext cx="6949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9EFF7"/>
                </a:solidFill>
                <a:latin typeface="Segoe UI"/>
              </a:rPr>
              <a:t>le job le plus délicat : réel vs reconstruit, traçabilité conservée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370832"/>
            <a:ext cx="10835640" cy="603504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4370832"/>
            <a:ext cx="64008" cy="603504"/>
          </a:xfrm>
          <a:prstGeom prst="rect">
            <a:avLst/>
          </a:prstGeom>
          <a:solidFill>
            <a:srgbClr val="E0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4434840"/>
            <a:ext cx="2926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B44A"/>
                </a:solidFill>
                <a:latin typeface="Consolas"/>
              </a:rPr>
              <a:t>gold/gold_sales_daily.py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4690872"/>
            <a:ext cx="3108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AB0CC"/>
                </a:solidFill>
                <a:latin typeface="Segoe UI"/>
              </a:rPr>
              <a:t>JOINTURE INTER-DOMAINES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3400" y="4544568"/>
            <a:ext cx="6949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9EFF7"/>
                </a:solidFill>
                <a:latin typeface="Segoe UI"/>
              </a:rPr>
              <a:t>la jointure est TEMPORELLE — c'est le point à expliquer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5029200"/>
            <a:ext cx="10835640" cy="603504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85800" y="5029200"/>
            <a:ext cx="64008" cy="603504"/>
          </a:xfrm>
          <a:prstGeom prst="rect">
            <a:avLst/>
          </a:prstGeom>
          <a:solidFill>
            <a:srgbClr val="A9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5093208"/>
            <a:ext cx="2926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A98BFF"/>
                </a:solidFill>
                <a:latin typeface="Consolas"/>
              </a:rPr>
              <a:t>maintenance/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5349240"/>
            <a:ext cx="3108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AB0CC"/>
                </a:solidFill>
                <a:latin typeface="Segoe UI"/>
              </a:rPr>
              <a:t>qualité · compaction · démo Iceberg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43400" y="5202936"/>
            <a:ext cx="6949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9EFF7"/>
                </a:solidFill>
                <a:latin typeface="Segoe UI"/>
              </a:rPr>
              <a:t>7 contrôles dont la réconciliation croisée entre deux tables Gold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5806440"/>
            <a:ext cx="10835640" cy="603504"/>
          </a:xfrm>
          <a:prstGeom prst="roundRect">
            <a:avLst>
              <a:gd name="adj" fmla="val 8000"/>
            </a:avLst>
          </a:prstGeom>
          <a:solidFill>
            <a:srgbClr val="1E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" y="5888736"/>
            <a:ext cx="320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B44A"/>
                </a:solidFill>
                <a:latin typeface="Segoe UI"/>
              </a:rPr>
              <a:t>LE POINT À NE PAS MANQUER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" y="6144768"/>
            <a:ext cx="10241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9EFF7"/>
                </a:solidFill>
                <a:latin typeface="Consolas"/>
              </a:rPr>
              <a:t>p.snapshot_date = o.order_date  —  chaque ligne de commande est valorisée au prix EN VIGUEUR LE JOUR DE LA COMMANDE, pas au prix d'aujourd'hui.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1417320"/>
          </a:xfrm>
          <a:prstGeom prst="rect">
            <a:avLst/>
          </a:prstGeom>
          <a:solidFill>
            <a:srgbClr val="4CA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9EFF7"/>
                </a:solidFill>
                <a:latin typeface="Segoe UI"/>
              </a:rPr>
              <a:t>Exécution Spark — cluster du médaillon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AB0CC"/>
                </a:solidFill>
                <a:latin typeface="Segoe UI"/>
              </a:rPr>
              <a:t>2 workers, 4 cœurs — jobs Bronze / Silver / Gold soumis par Airflow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 i="0">
                <a:solidFill>
                  <a:srgbClr val="4CA5FF"/>
                </a:solidFill>
                <a:latin typeface="Segoe UI"/>
              </a:rPr>
              <a:t>Capture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1047" y="1527048"/>
            <a:ext cx="8229600" cy="4669155"/>
          </a:xfrm>
          <a:prstGeom prst="rect">
            <a:avLst/>
          </a:prstGeom>
          <a:solidFill>
            <a:srgbClr val="1E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park_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6767" y="1572768"/>
            <a:ext cx="8138160" cy="45777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6260211"/>
            <a:ext cx="10820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9AB0CC"/>
                </a:solidFill>
                <a:latin typeface="Segoe UI"/>
              </a:rPr>
              <a:t>Airflow soumet les jobs Spark (spark-submit) qui construisent les tables Iceberg. La jointure Gold valorise chaque commande au prix du jour (p.snapshot_date = o.order_date).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"/>
            <a:ext cx="6400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D1522"/>
                </a:solidFill>
                <a:latin typeface="Segoe UI"/>
              </a:rPr>
              <a:t>À L'ÉCRAN — DÉMONSTRATION EN DIRECT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45720"/>
            <a:ext cx="2926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0D1522"/>
                </a:solidFill>
                <a:latin typeface="Segoe UI"/>
              </a:rPr>
              <a:t>Séquence 5 · 2 à 3 min — 3 pts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310896"/>
            <a:ext cx="12191695" cy="274320"/>
          </a:xfrm>
          <a:prstGeom prst="rect">
            <a:avLst/>
          </a:prstGeom>
          <a:solidFill>
            <a:srgbClr val="1E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38328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00" b="1" i="0">
                <a:solidFill>
                  <a:srgbClr val="FF7A1A"/>
                </a:solidFill>
                <a:latin typeface="Consolas"/>
              </a:rPr>
              <a:t>ACCÈS   </a:t>
            </a:r>
            <a:r>
              <a:rPr sz="1100" b="0" i="0">
                <a:solidFill>
                  <a:srgbClr val="E9EFF7"/>
                </a:solidFill>
                <a:latin typeface="Consolas"/>
              </a:rPr>
              <a:t>http://54.175.16.1:9047   ·   dremio / dremio123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00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9EFF7"/>
                </a:solidFill>
                <a:latin typeface="Segoe UI"/>
              </a:rPr>
              <a:t>Test du moteur de requête Dremio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1887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A98BFF"/>
                </a:solidFill>
                <a:latin typeface="Segoe UI"/>
              </a:rPr>
              <a:t>http://54.175.16.1:9047 — source « lakehouse » (Nessie)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10835640" cy="420624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783080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EC4B6"/>
                </a:solidFill>
                <a:latin typeface="Consolas"/>
              </a:rPr>
              <a:t>Q0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773936"/>
            <a:ext cx="4206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E9EFF7"/>
                </a:solidFill>
                <a:latin typeface="Segoe UI"/>
              </a:rPr>
              <a:t>Inventaire du catalogue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1792224"/>
            <a:ext cx="5303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AB0CC"/>
                </a:solidFill>
                <a:latin typeface="Segoe UI"/>
              </a:rPr>
              <a:t>les 3 couches visibles sans déclaration manuelle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148840"/>
            <a:ext cx="10835640" cy="420624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240280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07A3E"/>
                </a:solidFill>
                <a:latin typeface="Consolas"/>
              </a:rPr>
              <a:t>Q1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231136"/>
            <a:ext cx="4206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E9EFF7"/>
                </a:solidFill>
                <a:latin typeface="Segoe UI"/>
              </a:rPr>
              <a:t>BRONZE — raw_products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2249424"/>
            <a:ext cx="5303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AB0CC"/>
                </a:solidFill>
                <a:latin typeface="Segoe UI"/>
              </a:rPr>
              <a:t>structure brute + traçabilité jusqu'à l'objet MinIO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606040"/>
            <a:ext cx="10835640" cy="420624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2697480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9EADBE"/>
                </a:solidFill>
                <a:latin typeface="Consolas"/>
              </a:rPr>
              <a:t>Q2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2688336"/>
            <a:ext cx="4206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E9EFF7"/>
                </a:solidFill>
                <a:latin typeface="Segoe UI"/>
              </a:rPr>
              <a:t>SILVER — dim_products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2706624"/>
            <a:ext cx="5303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AB0CC"/>
                </a:solidFill>
                <a:latin typeface="Segoe UI"/>
              </a:rPr>
              <a:t>typé, aplati, enrichi — mesure brute conservée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063240"/>
            <a:ext cx="10835640" cy="420624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3154680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B44A"/>
                </a:solidFill>
                <a:latin typeface="Consolas"/>
              </a:rPr>
              <a:t>Q3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145536"/>
            <a:ext cx="4206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E9EFF7"/>
                </a:solidFill>
                <a:latin typeface="Segoe UI"/>
              </a:rPr>
              <a:t>GOLD — gold_catalog_daily_kpi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320" y="3163824"/>
            <a:ext cx="5303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AB0CC"/>
                </a:solidFill>
                <a:latin typeface="Segoe UI"/>
              </a:rPr>
              <a:t>30 jours d'indicateurs, aucun calcul dans la requête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520440"/>
            <a:ext cx="10835640" cy="420624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3611880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A98BFF"/>
                </a:solidFill>
                <a:latin typeface="Consolas"/>
              </a:rPr>
              <a:t>Q4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3602736"/>
            <a:ext cx="4206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E9EFF7"/>
                </a:solidFill>
                <a:latin typeface="Segoe UI"/>
              </a:rPr>
              <a:t>JOINTURE — commandes × produits × clients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3621024"/>
            <a:ext cx="5303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AB0CC"/>
                </a:solidFill>
                <a:latin typeface="Segoe UI"/>
              </a:rPr>
              <a:t>exigence 5.3 — jointure temporelle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3977640"/>
            <a:ext cx="10835640" cy="420624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" y="4069080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A98BFF"/>
                </a:solidFill>
                <a:latin typeface="Consolas"/>
              </a:rPr>
              <a:t>Q5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4059936"/>
            <a:ext cx="4206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E9EFF7"/>
                </a:solidFill>
                <a:latin typeface="Segoe UI"/>
              </a:rPr>
              <a:t>JOINTURE + agrégation par ville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4078224"/>
            <a:ext cx="5303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AB0CC"/>
                </a:solidFill>
                <a:latin typeface="Segoe UI"/>
              </a:rPr>
              <a:t>quelles villes achètent quelles catégories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4434840"/>
            <a:ext cx="10835640" cy="420624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6968" y="4526280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AD18B"/>
                </a:solidFill>
                <a:latin typeface="Consolas"/>
              </a:rPr>
              <a:t>Q6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4517136"/>
            <a:ext cx="4206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E9EFF7"/>
                </a:solidFill>
                <a:latin typeface="Segoe UI"/>
              </a:rPr>
              <a:t>AGRÉGATION — CA mensuel par catégorie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20" y="4535424"/>
            <a:ext cx="5303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AB0CC"/>
                </a:solidFill>
                <a:latin typeface="Segoe UI"/>
              </a:rPr>
              <a:t>exigence 5.4 — les 6 mois d'historique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4892040"/>
            <a:ext cx="10835640" cy="420624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6968" y="4983480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AD18B"/>
                </a:solidFill>
                <a:latin typeface="Consolas"/>
              </a:rPr>
              <a:t>Q7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54480" y="4974336"/>
            <a:ext cx="4206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E9EFF7"/>
                </a:solidFill>
                <a:latin typeface="Segoe UI"/>
              </a:rPr>
              <a:t>AGRÉGATION — segmentation RFM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89320" y="4992624"/>
            <a:ext cx="5303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AB0CC"/>
                </a:solidFill>
                <a:latin typeface="Segoe UI"/>
              </a:rPr>
              <a:t>seconde table Gold à jointure inter-domaines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" y="5349240"/>
            <a:ext cx="10835640" cy="420624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6968" y="5440680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7A1A"/>
                </a:solidFill>
                <a:latin typeface="Consolas"/>
              </a:rPr>
              <a:t>Q8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54480" y="5431536"/>
            <a:ext cx="4206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E9EFF7"/>
                </a:solidFill>
                <a:latin typeface="Segoe UI"/>
              </a:rPr>
              <a:t>BONUS — tendance tarifaire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89320" y="5449824"/>
            <a:ext cx="5303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AB0CC"/>
                </a:solidFill>
                <a:latin typeface="Segoe UI"/>
              </a:rPr>
              <a:t>impossible sans les 180 snapshots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5800" y="5897880"/>
            <a:ext cx="10835640" cy="512064"/>
          </a:xfrm>
          <a:prstGeom prst="roundRect">
            <a:avLst>
              <a:gd name="adj" fmla="val 8000"/>
            </a:avLst>
          </a:prstGeom>
          <a:solidFill>
            <a:srgbClr val="1E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0120" y="6016752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5AD18B"/>
                </a:solidFill>
                <a:latin typeface="Consolas"/>
              </a:rPr>
              <a:t>make dremio-test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37560" y="6035040"/>
            <a:ext cx="79552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B0CC"/>
                </a:solidFill>
                <a:latin typeface="Segoe UI"/>
              </a:rPr>
              <a:t>joue les 10 requêtes, affiche les résultats et rend un verdict — la preuve est industrialisée, pas improvisée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1417320"/>
          </a:xfrm>
          <a:prstGeom prst="rect">
            <a:avLst/>
          </a:prstGeom>
          <a:solidFill>
            <a:srgbClr val="A9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9EFF7"/>
                </a:solidFill>
                <a:latin typeface="Segoe UI"/>
              </a:rPr>
              <a:t>Requêtage SQL — Dremio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AB0CC"/>
                </a:solidFill>
                <a:latin typeface="Segoe UI"/>
              </a:rPr>
              <a:t>Source « lakehouse » : bronze / silver / gold + espace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 i="0">
                <a:solidFill>
                  <a:srgbClr val="A98BFF"/>
                </a:solidFill>
                <a:latin typeface="Segoe UI"/>
              </a:rPr>
              <a:t>Capture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1047" y="1527048"/>
            <a:ext cx="8229600" cy="4669155"/>
          </a:xfrm>
          <a:prstGeom prst="rect">
            <a:avLst/>
          </a:prstGeom>
          <a:solidFill>
            <a:srgbClr val="1E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remio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6767" y="1572768"/>
            <a:ext cx="8138160" cy="3870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6260211"/>
            <a:ext cx="10820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9AB0CC"/>
                </a:solidFill>
                <a:latin typeface="Segoe UI"/>
              </a:rPr>
              <a:t>Dremio lit les tables Iceberg via le catalogue Nessie et les fichiers Parquet dans MinIO. Validation Partie 5 : 10/10 requêtes au vert (par couche, jointures inter-domaines, agrégations, time travel).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"/>
            <a:ext cx="6400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D1522"/>
                </a:solidFill>
                <a:latin typeface="Segoe UI"/>
              </a:rPr>
              <a:t>À L'ÉCRAN — DÉMONSTRATION EN DIRECT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45720"/>
            <a:ext cx="2926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0D1522"/>
                </a:solidFill>
                <a:latin typeface="Segoe UI"/>
              </a:rPr>
              <a:t>Séquence 6 · 2 à 3 min — 3 pts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310896"/>
            <a:ext cx="12191695" cy="274320"/>
          </a:xfrm>
          <a:prstGeom prst="rect">
            <a:avLst/>
          </a:prstGeom>
          <a:solidFill>
            <a:srgbClr val="1E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38328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900" b="1" i="0">
                <a:solidFill>
                  <a:srgbClr val="FF7A1A"/>
                </a:solidFill>
                <a:latin typeface="Consolas"/>
              </a:rPr>
              <a:t>ACCÈS   </a:t>
            </a:r>
            <a:r>
              <a:rPr sz="900" b="0" i="0">
                <a:solidFill>
                  <a:srgbClr val="E9EFF7"/>
                </a:solidFill>
                <a:latin typeface="Consolas"/>
              </a:rPr>
              <a:t>Airflow http://54.175.16.1:8085  admin / EYEYD1EELcXDoOCvKJwFAa1!     ·     MinIO http://54.175.16.1:9001  lakehouse / lqd5oFQTVz0TL6gmaBxAa1!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00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9EFF7"/>
                </a:solidFill>
                <a:latin typeface="Segoe UI"/>
              </a:rPr>
              <a:t>Démonstration de bout en bout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1887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D18B"/>
                </a:solidFill>
                <a:latin typeface="Segoe UI"/>
              </a:rPr>
              <a:t>Un appel API par NiFi jusqu'à une table Gold interrogeable dans Dremio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10835640" cy="548640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0392" y="1901952"/>
            <a:ext cx="310896" cy="310896"/>
          </a:xfrm>
          <a:prstGeom prst="ellipse">
            <a:avLst/>
          </a:prstGeom>
          <a:solidFill>
            <a:srgbClr val="4CA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947672"/>
            <a:ext cx="3108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D1522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192938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CA5FF"/>
                </a:solidFill>
                <a:latin typeface="Segoe UI"/>
              </a:rPr>
              <a:t>Airflow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1947672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B0CC"/>
                </a:solidFill>
                <a:latin typeface="Segoe UI"/>
              </a:rPr>
              <a:t>déclencher fakestore_daily_ingestion — montrer le graphe du DAG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423160"/>
            <a:ext cx="10835640" cy="548640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50392" y="2542032"/>
            <a:ext cx="310896" cy="310896"/>
          </a:xfrm>
          <a:prstGeom prst="ellipse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2587752"/>
            <a:ext cx="3108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D1522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44168" y="256946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7A1A"/>
                </a:solidFill>
                <a:latin typeface="Segoe UI"/>
              </a:rPr>
              <a:t>NiFi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2587752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B0CC"/>
                </a:solidFill>
                <a:latin typeface="Segoe UI"/>
              </a:rPr>
              <a:t>les compteurs des processeurs s'incrémentent en direct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063240"/>
            <a:ext cx="10835640" cy="548640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0392" y="3182112"/>
            <a:ext cx="310896" cy="310896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3227832"/>
            <a:ext cx="3108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D1522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4168" y="320954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EC4B6"/>
                </a:solidFill>
                <a:latin typeface="Segoe UI"/>
              </a:rPr>
              <a:t>MinIO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3227832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B0CC"/>
                </a:solidFill>
                <a:latin typeface="Segoe UI"/>
              </a:rPr>
              <a:t>rafraîchir : le nouvel objet JSON apparaît dans ingest_date=&lt;aujourd'hui&gt;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703320"/>
            <a:ext cx="10835640" cy="548640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0392" y="3822192"/>
            <a:ext cx="310896" cy="310896"/>
          </a:xfrm>
          <a:prstGeom prst="ellipse">
            <a:avLst/>
          </a:prstGeom>
          <a:solidFill>
            <a:srgbClr val="4CA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867912"/>
            <a:ext cx="3108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D1522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4962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CA5FF"/>
                </a:solidFill>
                <a:latin typeface="Segoe UI"/>
              </a:rPr>
              <a:t>Airflow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3867912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B0CC"/>
                </a:solidFill>
                <a:latin typeface="Segoe UI"/>
              </a:rPr>
              <a:t>lakehouse_medallion démarre automatiquement (TriggerDagRunOperator)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343400"/>
            <a:ext cx="10835640" cy="548640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0392" y="4462272"/>
            <a:ext cx="310896" cy="310896"/>
          </a:xfrm>
          <a:prstGeom prst="ellipse">
            <a:avLst/>
          </a:prstGeom>
          <a:solidFill>
            <a:srgbClr val="4CA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" y="4507992"/>
            <a:ext cx="3108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D1522"/>
                </a:solidFill>
                <a:latin typeface="Segoe U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44168" y="448970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CA5FF"/>
                </a:solidFill>
                <a:latin typeface="Segoe UI"/>
              </a:rPr>
              <a:t>Spark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4507992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B0CC"/>
                </a:solidFill>
                <a:latin typeface="Segoe UI"/>
              </a:rPr>
              <a:t>l'interface du master montre l'application en cours d'exécution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4983480"/>
            <a:ext cx="10835640" cy="548640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0392" y="5102352"/>
            <a:ext cx="310896" cy="310896"/>
          </a:xfrm>
          <a:prstGeom prst="ellipse">
            <a:avLst/>
          </a:prstGeom>
          <a:solidFill>
            <a:srgbClr val="4CA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0392" y="5148072"/>
            <a:ext cx="3108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D1522"/>
                </a:solidFill>
                <a:latin typeface="Segoe U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44168" y="512978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CA5FF"/>
                </a:solidFill>
                <a:latin typeface="Segoe UI"/>
              </a:rPr>
              <a:t>Airflow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34640" y="5148072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B0CC"/>
                </a:solidFill>
                <a:latin typeface="Segoe UI"/>
              </a:rPr>
              <a:t>les tâches passent au vert : bronze → silver → gold → contrôles qualité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5623560"/>
            <a:ext cx="10835640" cy="548640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50392" y="5742432"/>
            <a:ext cx="310896" cy="310896"/>
          </a:xfrm>
          <a:prstGeom prst="ellipse">
            <a:avLst/>
          </a:prstGeom>
          <a:solidFill>
            <a:srgbClr val="A9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0392" y="5788152"/>
            <a:ext cx="3108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D1522"/>
                </a:solidFill>
                <a:latin typeface="Segoe UI"/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44168" y="576986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A98BFF"/>
                </a:solidFill>
                <a:latin typeface="Segoe UI"/>
              </a:rPr>
              <a:t>Dremio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34640" y="5788152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B0CC"/>
                </a:solidFill>
                <a:latin typeface="Segoe UI"/>
              </a:rPr>
              <a:t>rejouer Q3 ou Q6 : la nouvelle date est là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5800" y="6263640"/>
            <a:ext cx="10835640" cy="18288"/>
          </a:xfrm>
          <a:prstGeom prst="rect">
            <a:avLst/>
          </a:prstGeom>
          <a:solidFill>
            <a:srgbClr val="1E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638251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9AB0CC"/>
                </a:solidFill>
                <a:latin typeface="Segoe UI"/>
              </a:rPr>
              <a:t>Filet de sécurité : si le temps manque, déclencher l'ingestion au curl et montrer directement MinIO puis Dremio.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1417320"/>
          </a:xfrm>
          <a:prstGeom prst="rect">
            <a:avLst/>
          </a:prstGeom>
          <a:solidFill>
            <a:srgbClr val="5AD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9EFF7"/>
                </a:solidFill>
                <a:latin typeface="Segoe UI"/>
              </a:rPr>
              <a:t>Orchestration Airflow — l'option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AB0CC"/>
                </a:solidFill>
                <a:latin typeface="Segoe UI"/>
              </a:rPr>
              <a:t>DAG d'ingestion : attendre_depot observe la zone brute avant de traiter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 i="0">
                <a:solidFill>
                  <a:srgbClr val="5AD18B"/>
                </a:solidFill>
                <a:latin typeface="Segoe UI"/>
              </a:rPr>
              <a:t>Capture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1047" y="1527048"/>
            <a:ext cx="8229600" cy="4669155"/>
          </a:xfrm>
          <a:prstGeom prst="rect">
            <a:avLst/>
          </a:prstGeom>
          <a:solidFill>
            <a:srgbClr val="1E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irflow_daily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6767" y="1572768"/>
            <a:ext cx="8138160" cy="45777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6260211"/>
            <a:ext cx="10820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9AB0CC"/>
                </a:solidFill>
                <a:latin typeface="Segoe UI"/>
              </a:rPr>
              <a:t>La tâche attendre_depot ne suppose pas que NiFi a terminé : elle observe le stockage jusqu'au dépôt. Un DAG qui observe l'état réel survit à une panne de NiFi ; un DAG déclenché par événement perdrait la donnée.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14173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9EFF7"/>
                </a:solidFill>
                <a:latin typeface="Segoe UI"/>
              </a:rPr>
              <a:t>Supervision — Grafana / Prometheus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AB0CC"/>
                </a:solidFill>
                <a:latin typeface="Segoe UI"/>
              </a:rPr>
              <a:t>Bonus 7.1 : metriques temps reel de la plateforme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 i="0">
                <a:solidFill>
                  <a:srgbClr val="2EC4B6"/>
                </a:solidFill>
                <a:latin typeface="Segoe UI"/>
              </a:rPr>
              <a:t>Capture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1047" y="1527048"/>
            <a:ext cx="8229600" cy="4669155"/>
          </a:xfrm>
          <a:prstGeom prst="rect">
            <a:avLst/>
          </a:prstGeom>
          <a:solidFill>
            <a:srgbClr val="1E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rafa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6767" y="1572768"/>
            <a:ext cx="8138160" cy="385200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6260211"/>
            <a:ext cx="10820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9AB0CC"/>
                </a:solidFill>
                <a:latin typeface="Segoe UI"/>
              </a:rPr>
              <a:t>Tableau de bord DIT Lakehouse : cibles Prometheus actives, debit d'ingestion NiFi (FlowFiles/min), octets ecrits vers MinIO, memoire par conteneur et etat des services.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1417320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9EFF7"/>
                </a:solidFill>
                <a:latin typeface="Segoe UI"/>
              </a:rPr>
              <a:t>Bonus réalisés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AB0CC"/>
                </a:solidFill>
                <a:latin typeface="Segoe UI"/>
              </a:rPr>
              <a:t>Les cinq propositions de la Partie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10835640" cy="804672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45920"/>
            <a:ext cx="64008" cy="804672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77393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7A1A"/>
                </a:solidFill>
                <a:latin typeface="Segoe UI"/>
              </a:rPr>
              <a:t>Supervision NiFi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1755648"/>
            <a:ext cx="7040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9AB0CC"/>
                </a:solidFill>
                <a:latin typeface="Segoe UI"/>
              </a:rPr>
              <a:t>PrometheusReportingTask créée par script, panneau « débit d'ingestion » dans le dashboard Grafana provisionné automatiquement.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560320"/>
            <a:ext cx="10835640" cy="804672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560320"/>
            <a:ext cx="64008" cy="80467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268833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EC4B6"/>
                </a:solidFill>
                <a:latin typeface="Segoe UI"/>
              </a:rPr>
              <a:t>Idempotence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2670048"/>
            <a:ext cx="7040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9AB0CC"/>
                </a:solidFill>
                <a:latin typeface="Segoe UI"/>
              </a:rPr>
              <a:t>DetectDuplicate + DistributedMapCache côté NiFi (clé domaine::date), et overwritePartitions côté Spark. Double filet.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10835640" cy="804672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474720"/>
            <a:ext cx="64008" cy="804672"/>
          </a:xfrm>
          <a:prstGeom prst="rect">
            <a:avLst/>
          </a:prstGeom>
          <a:solidFill>
            <a:srgbClr val="4CA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360273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CA5FF"/>
                </a:solidFill>
                <a:latin typeface="Segoe UI"/>
              </a:rPr>
              <a:t>Troisième domaine — commandes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3584448"/>
            <a:ext cx="7040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9AB0CC"/>
                </a:solidFill>
                <a:latin typeface="Segoe UI"/>
              </a:rPr>
              <a:t>/carts exploité en fct_order_items, puis en gold_sales_by_category_daily et gold_customer_360.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389120"/>
            <a:ext cx="10835640" cy="804672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4389120"/>
            <a:ext cx="64008" cy="804672"/>
          </a:xfrm>
          <a:prstGeom prst="rect">
            <a:avLst/>
          </a:prstGeom>
          <a:solidFill>
            <a:srgbClr val="A9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451713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A98BFF"/>
                </a:solidFill>
                <a:latin typeface="Segoe UI"/>
              </a:rPr>
              <a:t>Process Group paramétrable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4498848"/>
            <a:ext cx="7040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9AB0CC"/>
                </a:solidFill>
                <a:latin typeface="Segoe UI"/>
              </a:rPr>
              <a:t>Parameter Context « fakestore-ingestion » : changer #{api.base.url} suffit à brancher le flow sur une autre API.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303520"/>
            <a:ext cx="10835640" cy="804672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5303520"/>
            <a:ext cx="64008" cy="804672"/>
          </a:xfrm>
          <a:prstGeom prst="rect">
            <a:avLst/>
          </a:prstGeom>
          <a:solidFill>
            <a:srgbClr val="E0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" y="543153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0B44A"/>
                </a:solidFill>
                <a:latin typeface="Segoe UI"/>
              </a:rPr>
              <a:t>Iceberg avancé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5413248"/>
            <a:ext cx="7040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9AB0CC"/>
                </a:solidFill>
                <a:latin typeface="Segoe UI"/>
              </a:rPr>
              <a:t>demo_iceberg_features.py : time travel (VERSION AS OF / TIMESTAMP AS OF), schema evolution sans réécriture, et branches Nessie.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6263640"/>
            <a:ext cx="10835640" cy="18288"/>
          </a:xfrm>
          <a:prstGeom prst="rect">
            <a:avLst/>
          </a:prstGeom>
          <a:solidFill>
            <a:srgbClr val="1E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638251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AD18B"/>
                </a:solidFill>
                <a:latin typeface="Consolas"/>
              </a:rPr>
              <a:t>make demo-iceberg  —  joue les quatre démonstrations Iceberg / Nessie en une commande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1417320"/>
          </a:xfrm>
          <a:prstGeom prst="rect">
            <a:avLst/>
          </a:prstGeom>
          <a:solidFill>
            <a:srgbClr val="F2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9EFF7"/>
                </a:solidFill>
                <a:latin typeface="Segoe UI"/>
              </a:rPr>
              <a:t>Difficultés rencontrées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AB0CC"/>
                </a:solidFill>
                <a:latin typeface="Segoe UI"/>
              </a:rPr>
              <a:t>Et comment je les ai traitées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0200"/>
            <a:ext cx="10835640" cy="384048"/>
          </a:xfrm>
          <a:prstGeom prst="rect">
            <a:avLst/>
          </a:prstGeom>
          <a:solidFill>
            <a:srgbClr val="1E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1682496"/>
            <a:ext cx="39346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9EFF7"/>
                </a:solidFill>
                <a:latin typeface="Segoe UI"/>
              </a:rPr>
              <a:t>Difficulté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1359" y="1682496"/>
            <a:ext cx="65352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9EFF7"/>
                </a:solidFill>
                <a:latin typeface="Segoe UI"/>
              </a:rPr>
              <a:t>Résolution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984248"/>
            <a:ext cx="10835640" cy="402336"/>
          </a:xfrm>
          <a:prstGeom prst="rect">
            <a:avLst/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2066544"/>
            <a:ext cx="393466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B0CC"/>
                </a:solidFill>
                <a:latin typeface="Segoe UI"/>
              </a:rPr>
              <a:t>NiFi 1.28 impose HTTPS + utilisateur généré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1359" y="2066544"/>
            <a:ext cx="653521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B0CC"/>
                </a:solidFill>
                <a:latin typeface="Segoe UI"/>
              </a:rPr>
              <a:t>Bascule HTTP par NIFI_WEB_HTTP_PORT — justifiée ; procédure docker logs documentée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2468880"/>
            <a:ext cx="393466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B0CC"/>
                </a:solidFill>
                <a:latin typeface="Segoe UI"/>
              </a:rPr>
              <a:t>localhost dans l'endpoint S3 du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1359" y="2468880"/>
            <a:ext cx="653521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B0CC"/>
                </a:solidFill>
                <a:latin typeface="Segoe UI"/>
              </a:rPr>
              <a:t>Nom de service Docker ; contrôle automatisé dans verifier_projet.py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788920"/>
            <a:ext cx="10835640" cy="402336"/>
          </a:xfrm>
          <a:prstGeom prst="rect">
            <a:avLst/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2871216"/>
            <a:ext cx="393466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B0CC"/>
                </a:solidFill>
                <a:latin typeface="Segoe UI"/>
              </a:rPr>
              <a:t>MinIO refuse le virtual-hosted style S3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1359" y="2871216"/>
            <a:ext cx="653521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B0CC"/>
                </a:solidFill>
                <a:latin typeface="Segoe UI"/>
              </a:rPr>
              <a:t>path-style access activé côté NiFi, Spark ET Dremio — les trois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3273552"/>
            <a:ext cx="393466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B0CC"/>
                </a:solidFill>
                <a:latin typeface="Segoe UI"/>
              </a:rPr>
              <a:t>Deux chemins d'accès à S3 dans Spark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1359" y="3273552"/>
            <a:ext cx="653521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B0CC"/>
                </a:solidFill>
                <a:latin typeface="Segoe UI"/>
              </a:rPr>
              <a:t>s3a pour les JSON bruts, S3FileIO pour Iceberg — configurés séparément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593592"/>
            <a:ext cx="10835640" cy="402336"/>
          </a:xfrm>
          <a:prstGeom prst="rect">
            <a:avLst/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" y="3675888"/>
            <a:ext cx="393466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B0CC"/>
                </a:solidFill>
                <a:latin typeface="Segoe UI"/>
              </a:rPr>
              <a:t>Compatibilité Spark / Iceberg / Nessie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1359" y="3675888"/>
            <a:ext cx="653521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B0CC"/>
                </a:solidFill>
                <a:latin typeface="Segoe UI"/>
              </a:rPr>
              <a:t>Matrice figée, JARs embarqués dans l'image plutôt que --packages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" y="4078224"/>
            <a:ext cx="393466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B0CC"/>
                </a:solidFill>
                <a:latin typeface="Segoe UI"/>
              </a:rPr>
              <a:t>Driver Spark côté Airflow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1359" y="4078224"/>
            <a:ext cx="653521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B0CC"/>
                </a:solidFill>
                <a:latin typeface="Segoe UI"/>
              </a:rPr>
              <a:t>Image Airflow custom : JRE 17 + distribution Spark identique au cluster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398264"/>
            <a:ext cx="10835640" cy="402336"/>
          </a:xfrm>
          <a:prstGeom prst="rect">
            <a:avLst/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" y="4480560"/>
            <a:ext cx="393466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B0CC"/>
                </a:solidFill>
                <a:latin typeface="Segoe UI"/>
              </a:rPr>
              <a:t>Historique plat sur une API sans dimension temporelle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1359" y="4480560"/>
            <a:ext cx="653521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B0CC"/>
                </a:solidFill>
                <a:latin typeface="Segoe UI"/>
              </a:rPr>
              <a:t>Modèle d'historisation déterministe à trois niveaux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" y="4882896"/>
            <a:ext cx="393466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B0CC"/>
                </a:solidFill>
                <a:latin typeface="Segoe UI"/>
              </a:rPr>
              <a:t>Multiplication de petits fichiers Parquet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1359" y="4882896"/>
            <a:ext cx="653521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B0CC"/>
                </a:solidFill>
                <a:latin typeface="Segoe UI"/>
              </a:rPr>
              <a:t>Partition mensuelle en Silver + job de compaction Iceberg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5202936"/>
            <a:ext cx="10835640" cy="402336"/>
          </a:xfrm>
          <a:prstGeom prst="rect">
            <a:avLst/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" y="5285232"/>
            <a:ext cx="393466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B0CC"/>
                </a:solidFill>
                <a:latin typeface="Segoe UI"/>
              </a:rPr>
              <a:t>180 DAG runs illisibles en démonstration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1359" y="5285232"/>
            <a:ext cx="653521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B0CC"/>
                </a:solidFill>
                <a:latin typeface="Segoe UI"/>
              </a:rPr>
              <a:t>Boucle unique avec reprise sur les dates déjà ingérées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1417320"/>
          </a:xfrm>
          <a:prstGeom prst="rect">
            <a:avLst/>
          </a:prstGeom>
          <a:solidFill>
            <a:srgbClr val="5AD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9EFF7"/>
                </a:solidFill>
                <a:latin typeface="Segoe UI"/>
              </a:rPr>
              <a:t>Bilan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AB0CC"/>
                </a:solidFill>
                <a:latin typeface="Segoe UI"/>
              </a:rPr>
              <a:t>Ce que la plateforme démontre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1691640" cy="1371600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1691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FF7A1A"/>
                </a:solidFill>
                <a:latin typeface="Segoe U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1691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9AB0CC"/>
                </a:solidFill>
                <a:latin typeface="Segoe UI"/>
              </a:rPr>
              <a:t>services</a:t>
            </a:r>
          </a:p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9AB0CC"/>
                </a:solidFill>
                <a:latin typeface="Segoe UI"/>
              </a:rPr>
              <a:t>conteneurisés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1600200"/>
            <a:ext cx="1691640" cy="1371600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1783080"/>
            <a:ext cx="1691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FF7A1A"/>
                </a:solidFill>
                <a:latin typeface="Segoe UI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331720"/>
            <a:ext cx="1691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9AB0CC"/>
                </a:solidFill>
                <a:latin typeface="Segoe UI"/>
              </a:rPr>
              <a:t>processeurs</a:t>
            </a:r>
          </a:p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9AB0CC"/>
                </a:solidFill>
                <a:latin typeface="Segoe UI"/>
              </a:rPr>
              <a:t>NiFi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1691640" cy="1371600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783080"/>
            <a:ext cx="1691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2EC4B6"/>
                </a:solidFill>
                <a:latin typeface="Segoe UI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331720"/>
            <a:ext cx="1691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9AB0CC"/>
                </a:solidFill>
                <a:latin typeface="Segoe UI"/>
              </a:rPr>
              <a:t>tables</a:t>
            </a:r>
          </a:p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9AB0CC"/>
                </a:solidFill>
                <a:latin typeface="Segoe UI"/>
              </a:rPr>
              <a:t>Iceberg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600200"/>
            <a:ext cx="1691640" cy="1371600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1783080"/>
            <a:ext cx="1691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4CA5FF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331720"/>
            <a:ext cx="1691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9AB0CC"/>
                </a:solidFill>
                <a:latin typeface="Segoe UI"/>
              </a:rPr>
              <a:t>domaines</a:t>
            </a:r>
          </a:p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9AB0CC"/>
                </a:solidFill>
                <a:latin typeface="Segoe UI"/>
              </a:rPr>
              <a:t>fonctionnels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600200"/>
            <a:ext cx="1691640" cy="1371600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1783080"/>
            <a:ext cx="1691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E0B44A"/>
                </a:solidFill>
                <a:latin typeface="Segoe UI"/>
              </a:rPr>
              <a:t>180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2331720"/>
            <a:ext cx="1691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9AB0CC"/>
                </a:solidFill>
                <a:latin typeface="Segoe UI"/>
              </a:rPr>
              <a:t>snapshots</a:t>
            </a:r>
          </a:p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9AB0CC"/>
                </a:solidFill>
                <a:latin typeface="Segoe UI"/>
              </a:rPr>
              <a:t>quotidiens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29800" y="1600200"/>
            <a:ext cx="1691640" cy="1371600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29800" y="1783080"/>
            <a:ext cx="1691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A98BFF"/>
                </a:solidFill>
                <a:latin typeface="Segoe UI"/>
              </a:rP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2331720"/>
            <a:ext cx="1691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9AB0CC"/>
                </a:solidFill>
                <a:latin typeface="Segoe UI"/>
              </a:rPr>
              <a:t>requêtes de</a:t>
            </a:r>
          </a:p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9AB0CC"/>
                </a:solidFill>
                <a:latin typeface="Segoe UI"/>
              </a:rPr>
              <a:t>validation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200400"/>
            <a:ext cx="5257800" cy="2788920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36499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5AD18B"/>
                </a:solidFill>
                <a:latin typeface="Segoe UI"/>
              </a:rPr>
              <a:t>Ce dont je suis satisfait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8408" y="3840480"/>
            <a:ext cx="82296" cy="82296"/>
          </a:xfrm>
          <a:prstGeom prst="rect">
            <a:avLst/>
          </a:prstGeom>
          <a:solidFill>
            <a:srgbClr val="5AD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3767328"/>
            <a:ext cx="4526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AB0CC"/>
                </a:solidFill>
                <a:latin typeface="Segoe UI"/>
              </a:rPr>
              <a:t>l'idempotence est réelle à tous les étages, pas seulement affichée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8408" y="4370832"/>
            <a:ext cx="82296" cy="82296"/>
          </a:xfrm>
          <a:prstGeom prst="rect">
            <a:avLst/>
          </a:prstGeom>
          <a:solidFill>
            <a:srgbClr val="5AD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4297680"/>
            <a:ext cx="4526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AB0CC"/>
                </a:solidFill>
                <a:latin typeface="Segoe UI"/>
              </a:rPr>
              <a:t>la donnée porte toujours sa nature : observée ou reconstruite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8408" y="4901184"/>
            <a:ext cx="82296" cy="82296"/>
          </a:xfrm>
          <a:prstGeom prst="rect">
            <a:avLst/>
          </a:prstGeom>
          <a:solidFill>
            <a:srgbClr val="5AD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4828032"/>
            <a:ext cx="4526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AB0CC"/>
                </a:solidFill>
                <a:latin typeface="Segoe UI"/>
              </a:rPr>
              <a:t>aucune perte silencieuse — rejets marqués en Bronze, file de rebut en NiFi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8408" y="5431536"/>
            <a:ext cx="82296" cy="82296"/>
          </a:xfrm>
          <a:prstGeom prst="rect">
            <a:avLst/>
          </a:prstGeom>
          <a:solidFill>
            <a:srgbClr val="5AD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88720" y="5358384"/>
            <a:ext cx="4526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AB0CC"/>
                </a:solidFill>
                <a:latin typeface="Segoe UI"/>
              </a:rPr>
              <a:t>la plateforme se reconstruit entièrement par script, sans un clic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3200400"/>
            <a:ext cx="5257800" cy="2788920"/>
          </a:xfrm>
          <a:prstGeom prst="roundRect">
            <a:avLst>
              <a:gd name="adj" fmla="val 8000"/>
            </a:avLst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336499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0B44A"/>
                </a:solidFill>
                <a:latin typeface="Segoe UI"/>
              </a:rPr>
              <a:t>Ce que je ferais différemment à l'échelle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56248" y="3840480"/>
            <a:ext cx="82296" cy="82296"/>
          </a:xfrm>
          <a:prstGeom prst="rect">
            <a:avLst/>
          </a:prstGeom>
          <a:solidFill>
            <a:srgbClr val="E0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66560" y="3767328"/>
            <a:ext cx="4526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AB0CC"/>
                </a:solidFill>
                <a:latin typeface="Segoe UI"/>
              </a:rPr>
              <a:t>Gold recalculé intégralement → MERGE incrémental au-delà de quelques millions de lignes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56248" y="4370832"/>
            <a:ext cx="82296" cy="82296"/>
          </a:xfrm>
          <a:prstGeom prst="rect">
            <a:avLst/>
          </a:prstGeom>
          <a:solidFill>
            <a:srgbClr val="E0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66560" y="4297680"/>
            <a:ext cx="4526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AB0CC"/>
                </a:solidFill>
                <a:latin typeface="Segoe UI"/>
              </a:rPr>
              <a:t>un seul PostgreSQL → séparer Airflow et Nessie (profils de charge distincts)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56248" y="4901184"/>
            <a:ext cx="82296" cy="82296"/>
          </a:xfrm>
          <a:prstGeom prst="rect">
            <a:avLst/>
          </a:prstGeom>
          <a:solidFill>
            <a:srgbClr val="E0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66560" y="4828032"/>
            <a:ext cx="4526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AB0CC"/>
                </a:solidFill>
                <a:latin typeface="Segoe UI"/>
              </a:rPr>
              <a:t>NiFi en HTTP → HTTPS avec certificat interne et jetons d'accès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56248" y="5431536"/>
            <a:ext cx="82296" cy="82296"/>
          </a:xfrm>
          <a:prstGeom prst="rect">
            <a:avLst/>
          </a:prstGeom>
          <a:solidFill>
            <a:srgbClr val="E0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66560" y="5358384"/>
            <a:ext cx="4526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AB0CC"/>
                </a:solidFill>
                <a:latin typeface="Segoe UI"/>
              </a:rPr>
              <a:t>Spark en mode client depuis Airflow → cluster mode ou Kubernetes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1417320"/>
          </a:xfrm>
          <a:prstGeom prst="rect">
            <a:avLst/>
          </a:prstGeom>
          <a:solidFill>
            <a:srgbClr val="9AB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9EFF7"/>
                </a:solidFill>
                <a:latin typeface="Segoe UI"/>
              </a:rPr>
              <a:t>Annexe — matrice de versions et accès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AB0CC"/>
                </a:solidFill>
                <a:latin typeface="Segoe UI"/>
              </a:rPr>
              <a:t>Diapositive de secours, à ne montrer que si une question l'appelle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54480"/>
            <a:ext cx="5257800" cy="384048"/>
          </a:xfrm>
          <a:prstGeom prst="rect">
            <a:avLst/>
          </a:prstGeom>
          <a:solidFill>
            <a:srgbClr val="1E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163677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9EFF7"/>
                </a:solidFill>
                <a:latin typeface="Segoe UI"/>
              </a:rPr>
              <a:t>Composant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1636776"/>
            <a:ext cx="25511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9EFF7"/>
                </a:solidFill>
                <a:latin typeface="Segoe UI"/>
              </a:rPr>
              <a:t>Version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938528"/>
            <a:ext cx="5257800" cy="384048"/>
          </a:xfrm>
          <a:prstGeom prst="rect">
            <a:avLst/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2020824"/>
            <a:ext cx="23408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B0CC"/>
                </a:solidFill>
                <a:latin typeface="Segoe UI"/>
              </a:rPr>
              <a:t>Apache NiFi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2020824"/>
            <a:ext cx="255117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9EFF7"/>
                </a:solidFill>
                <a:latin typeface="Consolas"/>
              </a:rPr>
              <a:t>1.28.1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2404872"/>
            <a:ext cx="23408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B0CC"/>
                </a:solidFill>
                <a:latin typeface="Segoe UI"/>
              </a:rPr>
              <a:t>Apache Spark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404872"/>
            <a:ext cx="255117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9EFF7"/>
                </a:solidFill>
                <a:latin typeface="Consolas"/>
              </a:rPr>
              <a:t>3.5.1 (Scala 2.12, Java 17)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706624"/>
            <a:ext cx="5257800" cy="384048"/>
          </a:xfrm>
          <a:prstGeom prst="rect">
            <a:avLst/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2788920"/>
            <a:ext cx="23408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B0CC"/>
                </a:solidFill>
                <a:latin typeface="Segoe UI"/>
              </a:rPr>
              <a:t>Apache Iceberg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788920"/>
            <a:ext cx="255117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9EFF7"/>
                </a:solidFill>
                <a:latin typeface="Consolas"/>
              </a:rPr>
              <a:t>1.5.2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3172968"/>
            <a:ext cx="23408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B0CC"/>
                </a:solidFill>
                <a:latin typeface="Segoe UI"/>
              </a:rPr>
              <a:t>Project Nessie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3172968"/>
            <a:ext cx="255117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9EFF7"/>
                </a:solidFill>
                <a:latin typeface="Consolas"/>
              </a:rPr>
              <a:t>0.77.1 — API v2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474720"/>
            <a:ext cx="5257800" cy="384048"/>
          </a:xfrm>
          <a:prstGeom prst="rect">
            <a:avLst/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" y="3557016"/>
            <a:ext cx="23408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B0CC"/>
                </a:solidFill>
                <a:latin typeface="Segoe UI"/>
              </a:rPr>
              <a:t>Apache Airflow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3557016"/>
            <a:ext cx="255117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9EFF7"/>
                </a:solidFill>
                <a:latin typeface="Consolas"/>
              </a:rPr>
              <a:t>2.9.3 — LocalExecutor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" y="3941064"/>
            <a:ext cx="23408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B0CC"/>
                </a:solidFill>
                <a:latin typeface="Segoe UI"/>
              </a:rPr>
              <a:t>Dremio OSS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3941064"/>
            <a:ext cx="255117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9EFF7"/>
                </a:solidFill>
                <a:latin typeface="Consolas"/>
              </a:rPr>
              <a:t>25.0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242816"/>
            <a:ext cx="5257800" cy="384048"/>
          </a:xfrm>
          <a:prstGeom prst="rect">
            <a:avLst/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" y="4325112"/>
            <a:ext cx="23408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B0CC"/>
                </a:solidFill>
                <a:latin typeface="Segoe UI"/>
              </a:rPr>
              <a:t>MinIO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4325112"/>
            <a:ext cx="255117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9EFF7"/>
                </a:solidFill>
                <a:latin typeface="Consolas"/>
              </a:rPr>
              <a:t>RELEASE.2024-09-13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" y="4709160"/>
            <a:ext cx="23408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B0CC"/>
                </a:solidFill>
                <a:latin typeface="Segoe UI"/>
              </a:rPr>
              <a:t>PostgreSQL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4709160"/>
            <a:ext cx="255117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9EFF7"/>
                </a:solidFill>
                <a:latin typeface="Consolas"/>
              </a:rPr>
              <a:t>15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5010912"/>
            <a:ext cx="5257800" cy="384048"/>
          </a:xfrm>
          <a:prstGeom prst="rect">
            <a:avLst/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" y="5093208"/>
            <a:ext cx="23408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B0CC"/>
                </a:solidFill>
                <a:latin typeface="Segoe UI"/>
              </a:rPr>
              <a:t>Prometheus / Grafana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5093208"/>
            <a:ext cx="255117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9EFF7"/>
                </a:solidFill>
                <a:latin typeface="Consolas"/>
              </a:rPr>
              <a:t>2.54.1 / 11.2.0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1554480"/>
            <a:ext cx="5257800" cy="384048"/>
          </a:xfrm>
          <a:prstGeom prst="rect">
            <a:avLst/>
          </a:prstGeom>
          <a:solidFill>
            <a:srgbClr val="1E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91656" y="1636776"/>
            <a:ext cx="14996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9EFF7"/>
                </a:solidFill>
                <a:latin typeface="Segoe UI"/>
              </a:rPr>
              <a:t>Interface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74152" y="1636776"/>
            <a:ext cx="33924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9EFF7"/>
                </a:solidFill>
                <a:latin typeface="Segoe UI"/>
              </a:rPr>
              <a:t>Adresse et identifiants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1938528"/>
            <a:ext cx="5257800" cy="384048"/>
          </a:xfrm>
          <a:prstGeom prst="rect">
            <a:avLst/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91656" y="2020824"/>
            <a:ext cx="149961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AB0CC"/>
                </a:solidFill>
                <a:latin typeface="Segoe UI"/>
              </a:rPr>
              <a:t>MinIO console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74152" y="2020824"/>
            <a:ext cx="3392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9EFF7"/>
                </a:solidFill>
                <a:latin typeface="Consolas"/>
              </a:rPr>
              <a:t>54.175.16.1:9001 — lakehouse / lqd5oFQTVz0TL6gmaBxAa1!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91656" y="2404872"/>
            <a:ext cx="149961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AB0CC"/>
                </a:solidFill>
                <a:latin typeface="Segoe UI"/>
              </a:rPr>
              <a:t>Apache NiFi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74152" y="2404872"/>
            <a:ext cx="3392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9EFF7"/>
                </a:solidFill>
                <a:latin typeface="Consolas"/>
              </a:rPr>
              <a:t>54.175.16.1:8080/nifi — accès anonyme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2706624"/>
            <a:ext cx="5257800" cy="384048"/>
          </a:xfrm>
          <a:prstGeom prst="rect">
            <a:avLst/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91656" y="2788920"/>
            <a:ext cx="149961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AB0CC"/>
                </a:solidFill>
                <a:latin typeface="Segoe UI"/>
              </a:rPr>
              <a:t>Apache Airflow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74152" y="2788920"/>
            <a:ext cx="3392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9EFF7"/>
                </a:solidFill>
                <a:latin typeface="Consolas"/>
              </a:rPr>
              <a:t>54.175.16.1:8085 — admin / EYEYD1EELcXDoOCvKJwFAa1!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91656" y="3172968"/>
            <a:ext cx="149961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AB0CC"/>
                </a:solidFill>
                <a:latin typeface="Segoe UI"/>
              </a:rPr>
              <a:t>Spark master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74152" y="3172968"/>
            <a:ext cx="3392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9EFF7"/>
                </a:solidFill>
                <a:latin typeface="Consolas"/>
              </a:rPr>
              <a:t>54.175.16.1:8090 — sans authentification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3474720"/>
            <a:ext cx="5257800" cy="384048"/>
          </a:xfrm>
          <a:prstGeom prst="rect">
            <a:avLst/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91656" y="3557016"/>
            <a:ext cx="149961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AB0CC"/>
                </a:solidFill>
                <a:latin typeface="Segoe UI"/>
              </a:rPr>
              <a:t>Dremio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74152" y="3557016"/>
            <a:ext cx="3392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9EFF7"/>
                </a:solidFill>
                <a:latin typeface="Consolas"/>
              </a:rPr>
              <a:t>54.175.16.1:9047 — dremio / dremio123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91656" y="3941064"/>
            <a:ext cx="149961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AB0CC"/>
                </a:solidFill>
                <a:latin typeface="Segoe UI"/>
              </a:rPr>
              <a:t>Grafana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74152" y="3941064"/>
            <a:ext cx="3392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9EFF7"/>
                </a:solidFill>
                <a:latin typeface="Consolas"/>
              </a:rPr>
              <a:t>54.175.16.1:3001 — admin / X2Vsgx2Fz8NpWCIaf8TAa1!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63640" y="4242816"/>
            <a:ext cx="5257800" cy="384048"/>
          </a:xfrm>
          <a:prstGeom prst="rect">
            <a:avLst/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91656" y="4325112"/>
            <a:ext cx="149961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AB0CC"/>
                </a:solidFill>
                <a:latin typeface="Segoe UI"/>
              </a:rPr>
              <a:t>Serveur (SSH)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74152" y="4325112"/>
            <a:ext cx="3392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9EFF7"/>
                </a:solidFill>
                <a:latin typeface="Consolas"/>
              </a:rPr>
              <a:t>ec2-user@54.175.16.1 — clé data_megane.pem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91656" y="4709160"/>
            <a:ext cx="149961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AB0CC"/>
                </a:solidFill>
                <a:latin typeface="Segoe UI"/>
              </a:rPr>
              <a:t>Nessie API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74152" y="4709160"/>
            <a:ext cx="3392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9EFF7"/>
                </a:solidFill>
                <a:latin typeface="Consolas"/>
              </a:rPr>
              <a:t>54.175.16.1:19120/api/v2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63640" y="5010912"/>
            <a:ext cx="5257800" cy="384048"/>
          </a:xfrm>
          <a:prstGeom prst="rect">
            <a:avLst/>
          </a:prstGeom>
          <a:solidFill>
            <a:srgbClr val="16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91656" y="5093208"/>
            <a:ext cx="149961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AB0CC"/>
                </a:solidFill>
                <a:latin typeface="Segoe UI"/>
              </a:rPr>
              <a:t>Ingestion (curl)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74152" y="5093208"/>
            <a:ext cx="3392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9EFF7"/>
                </a:solidFill>
                <a:latin typeface="Consolas"/>
              </a:rPr>
              <a:t>POST 54.175.16.1:9095/ingest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85800" y="5669280"/>
            <a:ext cx="10835640" cy="685800"/>
          </a:xfrm>
          <a:prstGeom prst="roundRect">
            <a:avLst>
              <a:gd name="adj" fmla="val 8000"/>
            </a:avLst>
          </a:prstGeom>
          <a:solidFill>
            <a:srgbClr val="1E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0120" y="5779008"/>
            <a:ext cx="4114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9EFF7"/>
                </a:solidFill>
                <a:latin typeface="Segoe UI"/>
              </a:rPr>
              <a:t>Remise en route complète depuis zéro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0120" y="6053328"/>
            <a:ext cx="10241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AD18B"/>
                </a:solidFill>
                <a:latin typeface="Consolas"/>
              </a:rPr>
              <a:t>make demarrage-complet      (build → up → flow NiFi → source Dremio → backfill 6 mois)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